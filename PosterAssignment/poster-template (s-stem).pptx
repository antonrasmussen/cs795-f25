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77A2"/>
    <a:srgbClr val="F09253"/>
    <a:srgbClr val="78B251"/>
    <a:srgbClr val="686868"/>
    <a:srgbClr val="AD6534"/>
    <a:srgbClr val="B47144"/>
    <a:srgbClr val="4A79A3"/>
    <a:srgbClr val="85B962"/>
    <a:srgbClr val="7EB559"/>
    <a:srgbClr val="5D85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22" autoAdjust="0"/>
    <p:restoredTop sz="95518" autoAdjust="0"/>
  </p:normalViewPr>
  <p:slideViewPr>
    <p:cSldViewPr snapToGrid="0" snapToObjects="1" showGuides="1">
      <p:cViewPr varScale="1">
        <p:scale>
          <a:sx n="22" d="100"/>
          <a:sy n="22" d="100"/>
        </p:scale>
        <p:origin x="1616" y="312"/>
      </p:cViewPr>
      <p:guideLst>
        <p:guide orient="horz" pos="3318"/>
        <p:guide orient="horz" pos="288"/>
        <p:guide orient="horz" pos="20160"/>
        <p:guide orient="horz"/>
        <p:guide pos="581"/>
        <p:guide pos="27069"/>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121" d="100"/>
          <a:sy n="121" d="100"/>
        </p:scale>
        <p:origin x="502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ng, Peng" userId="5c66e7bb-4a68-44a3-b5a2-82ff628f4fcb" providerId="ADAL" clId="{D994B955-0FFD-1247-824A-71470EC5B99A}"/>
    <pc:docChg chg="custSel modSld">
      <pc:chgData name="Jiang, Peng" userId="5c66e7bb-4a68-44a3-b5a2-82ff628f4fcb" providerId="ADAL" clId="{D994B955-0FFD-1247-824A-71470EC5B99A}" dt="2024-08-01T17:25:55.602" v="4" actId="27636"/>
      <pc:docMkLst>
        <pc:docMk/>
      </pc:docMkLst>
      <pc:sldChg chg="modSp mod">
        <pc:chgData name="Jiang, Peng" userId="5c66e7bb-4a68-44a3-b5a2-82ff628f4fcb" providerId="ADAL" clId="{D994B955-0FFD-1247-824A-71470EC5B99A}" dt="2024-08-01T17:25:55.602" v="4" actId="27636"/>
        <pc:sldMkLst>
          <pc:docMk/>
          <pc:sldMk cId="1815310718" sldId="258"/>
        </pc:sldMkLst>
        <pc:spChg chg="mod">
          <ac:chgData name="Jiang, Peng" userId="5c66e7bb-4a68-44a3-b5a2-82ff628f4fcb" providerId="ADAL" clId="{D994B955-0FFD-1247-824A-71470EC5B99A}" dt="2024-08-01T17:25:48.523" v="0" actId="1076"/>
          <ac:spMkLst>
            <pc:docMk/>
            <pc:sldMk cId="1815310718" sldId="258"/>
            <ac:spMk id="17" creationId="{6FA4F528-2BAB-9061-C8DB-102EA30941CD}"/>
          </ac:spMkLst>
        </pc:spChg>
        <pc:spChg chg="mod">
          <ac:chgData name="Jiang, Peng" userId="5c66e7bb-4a68-44a3-b5a2-82ff628f4fcb" providerId="ADAL" clId="{D994B955-0FFD-1247-824A-71470EC5B99A}" dt="2024-08-01T17:25:55.602" v="4" actId="27636"/>
          <ac:spMkLst>
            <pc:docMk/>
            <pc:sldMk cId="1815310718" sldId="258"/>
            <ac:spMk id="18" creationId="{C8AEFC53-F517-3A13-7E42-2AA0110FA4C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olddominion-my.sharepoint.com/personal/pjiang_odu_edu/Documents/School%20of%20Cybersecurity/NSF%20Fundings/S-STEM/S-STEM%20Conf/Event%20Particpan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olddominion-my.sharepoint.com/personal/pjiang_odu_edu/Documents/School%20of%20Cybersecurity/NSF%20Fundings/S-STEM/Interview/Participants%20Lis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olddominion-my.sharepoint.com/personal/pjiang_odu_edu/Documents/School%20of%20Cybersecurity/NSF%20Fundings/S-STEM/Interview/Participants%20Lis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olddominion-my.sharepoint.com/personal/pjiang_odu_edu/Documents/School%20of%20Cybersecurity/NSF%20Fundings/S-STEM/Interview/Participants%20List.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033457636421894"/>
          <c:y val="4.5944747428559696E-2"/>
          <c:w val="0.88966542363578105"/>
          <c:h val="0.90403242172648712"/>
        </c:manualLayout>
      </c:layout>
      <c:barChart>
        <c:barDir val="col"/>
        <c:grouping val="clustered"/>
        <c:varyColors val="0"/>
        <c:ser>
          <c:idx val="8"/>
          <c:order val="0"/>
          <c:tx>
            <c:strRef>
              <c:f>results!$J$19</c:f>
              <c:strCache>
                <c:ptCount val="1"/>
                <c:pt idx="0">
                  <c:v>Cyber Competition </c:v>
                </c:pt>
              </c:strCache>
            </c:strRef>
          </c:tx>
          <c:spPr>
            <a:gradFill flip="none" rotWithShape="1">
              <a:gsLst>
                <a:gs pos="0">
                  <a:schemeClr val="accent3">
                    <a:lumMod val="60000"/>
                  </a:schemeClr>
                </a:gs>
                <a:gs pos="75000">
                  <a:schemeClr val="accent3">
                    <a:lumMod val="60000"/>
                    <a:lumMod val="60000"/>
                    <a:lumOff val="40000"/>
                  </a:schemeClr>
                </a:gs>
                <a:gs pos="51000">
                  <a:schemeClr val="accent3">
                    <a:lumMod val="60000"/>
                    <a:alpha val="75000"/>
                  </a:schemeClr>
                </a:gs>
                <a:gs pos="100000">
                  <a:schemeClr val="accent3">
                    <a:lumMod val="60000"/>
                    <a:lumMod val="20000"/>
                    <a:lumOff val="80000"/>
                    <a:alpha val="15000"/>
                  </a:schemeClr>
                </a:gs>
              </a:gsLst>
              <a:lin ang="5400000" scaled="0"/>
            </a:gradFill>
            <a:ln>
              <a:noFill/>
            </a:ln>
            <a:effectLst/>
          </c:spPr>
          <c:invertIfNegative val="0"/>
          <c:cat>
            <c:strRef>
              <c:f>results!$L$10</c:f>
              <c:strCache>
                <c:ptCount val="1"/>
                <c:pt idx="0">
                  <c:v>Precent</c:v>
                </c:pt>
              </c:strCache>
            </c:strRef>
          </c:cat>
          <c:val>
            <c:numRef>
              <c:f>results!$L$19</c:f>
              <c:numCache>
                <c:formatCode>0%</c:formatCode>
                <c:ptCount val="1"/>
                <c:pt idx="0">
                  <c:v>0.88461538461538458</c:v>
                </c:pt>
              </c:numCache>
            </c:numRef>
          </c:val>
          <c:extLst>
            <c:ext xmlns:c16="http://schemas.microsoft.com/office/drawing/2014/chart" uri="{C3380CC4-5D6E-409C-BE32-E72D297353CC}">
              <c16:uniqueId val="{00000000-B646-4BD2-BC3B-1AA8287A3E49}"/>
            </c:ext>
          </c:extLst>
        </c:ser>
        <c:ser>
          <c:idx val="0"/>
          <c:order val="1"/>
          <c:tx>
            <c:strRef>
              <c:f>results!$J$11</c:f>
              <c:strCache>
                <c:ptCount val="1"/>
                <c:pt idx="0">
                  <c:v>Academic 
Support </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cat>
            <c:strRef>
              <c:f>results!$L$10</c:f>
              <c:strCache>
                <c:ptCount val="1"/>
                <c:pt idx="0">
                  <c:v>Precent</c:v>
                </c:pt>
              </c:strCache>
            </c:strRef>
          </c:cat>
          <c:val>
            <c:numRef>
              <c:f>results!$L$11</c:f>
              <c:numCache>
                <c:formatCode>0%</c:formatCode>
                <c:ptCount val="1"/>
                <c:pt idx="0">
                  <c:v>0.88461538461538458</c:v>
                </c:pt>
              </c:numCache>
            </c:numRef>
          </c:val>
          <c:extLst>
            <c:ext xmlns:c16="http://schemas.microsoft.com/office/drawing/2014/chart" uri="{C3380CC4-5D6E-409C-BE32-E72D297353CC}">
              <c16:uniqueId val="{00000001-B646-4BD2-BC3B-1AA8287A3E49}"/>
            </c:ext>
          </c:extLst>
        </c:ser>
        <c:ser>
          <c:idx val="5"/>
          <c:order val="2"/>
          <c:tx>
            <c:strRef>
              <c:f>results!$J$16</c:f>
              <c:strCache>
                <c:ptCount val="1"/>
                <c:pt idx="0">
                  <c:v>Conferences</c:v>
                </c:pt>
              </c:strCache>
            </c:strRef>
          </c:tx>
          <c:spPr>
            <a:gradFill flip="none" rotWithShape="1">
              <a:gsLst>
                <a:gs pos="0">
                  <a:schemeClr val="accent6"/>
                </a:gs>
                <a:gs pos="75000">
                  <a:schemeClr val="accent6">
                    <a:lumMod val="60000"/>
                    <a:lumOff val="40000"/>
                  </a:schemeClr>
                </a:gs>
                <a:gs pos="51000">
                  <a:schemeClr val="accent6">
                    <a:alpha val="75000"/>
                  </a:schemeClr>
                </a:gs>
                <a:gs pos="100000">
                  <a:schemeClr val="accent6">
                    <a:lumMod val="20000"/>
                    <a:lumOff val="80000"/>
                    <a:alpha val="15000"/>
                  </a:schemeClr>
                </a:gs>
              </a:gsLst>
              <a:lin ang="5400000" scaled="0"/>
            </a:gradFill>
            <a:ln>
              <a:noFill/>
            </a:ln>
            <a:effectLst/>
          </c:spPr>
          <c:invertIfNegative val="0"/>
          <c:cat>
            <c:strRef>
              <c:f>results!$L$10</c:f>
              <c:strCache>
                <c:ptCount val="1"/>
                <c:pt idx="0">
                  <c:v>Precent</c:v>
                </c:pt>
              </c:strCache>
            </c:strRef>
          </c:cat>
          <c:val>
            <c:numRef>
              <c:f>results!$L$16</c:f>
              <c:numCache>
                <c:formatCode>0%</c:formatCode>
                <c:ptCount val="1"/>
                <c:pt idx="0">
                  <c:v>0.88461538461538458</c:v>
                </c:pt>
              </c:numCache>
            </c:numRef>
          </c:val>
          <c:extLst>
            <c:ext xmlns:c16="http://schemas.microsoft.com/office/drawing/2014/chart" uri="{C3380CC4-5D6E-409C-BE32-E72D297353CC}">
              <c16:uniqueId val="{00000002-B646-4BD2-BC3B-1AA8287A3E49}"/>
            </c:ext>
          </c:extLst>
        </c:ser>
        <c:ser>
          <c:idx val="2"/>
          <c:order val="3"/>
          <c:tx>
            <c:strRef>
              <c:f>results!$J$13</c:f>
              <c:strCache>
                <c:ptCount val="1"/>
                <c:pt idx="0">
                  <c:v>Peer Mentoring</c:v>
                </c:pt>
              </c:strCache>
            </c:strRef>
          </c:tx>
          <c:spPr>
            <a:gradFill flip="none" rotWithShape="1">
              <a:gsLst>
                <a:gs pos="0">
                  <a:schemeClr val="accent3"/>
                </a:gs>
                <a:gs pos="75000">
                  <a:schemeClr val="accent3">
                    <a:lumMod val="60000"/>
                    <a:lumOff val="40000"/>
                  </a:schemeClr>
                </a:gs>
                <a:gs pos="51000">
                  <a:schemeClr val="accent3">
                    <a:alpha val="75000"/>
                  </a:schemeClr>
                </a:gs>
                <a:gs pos="100000">
                  <a:schemeClr val="accent3">
                    <a:lumMod val="20000"/>
                    <a:lumOff val="80000"/>
                    <a:alpha val="15000"/>
                  </a:schemeClr>
                </a:gs>
              </a:gsLst>
              <a:lin ang="5400000" scaled="0"/>
            </a:gradFill>
            <a:ln>
              <a:noFill/>
            </a:ln>
            <a:effectLst/>
          </c:spPr>
          <c:invertIfNegative val="0"/>
          <c:cat>
            <c:strRef>
              <c:f>results!$L$10</c:f>
              <c:strCache>
                <c:ptCount val="1"/>
                <c:pt idx="0">
                  <c:v>Precent</c:v>
                </c:pt>
              </c:strCache>
            </c:strRef>
          </c:cat>
          <c:val>
            <c:numRef>
              <c:f>results!$L$13</c:f>
              <c:numCache>
                <c:formatCode>0%</c:formatCode>
                <c:ptCount val="1"/>
                <c:pt idx="0">
                  <c:v>0.53846153846153844</c:v>
                </c:pt>
              </c:numCache>
            </c:numRef>
          </c:val>
          <c:extLst>
            <c:ext xmlns:c16="http://schemas.microsoft.com/office/drawing/2014/chart" uri="{C3380CC4-5D6E-409C-BE32-E72D297353CC}">
              <c16:uniqueId val="{00000003-B646-4BD2-BC3B-1AA8287A3E49}"/>
            </c:ext>
          </c:extLst>
        </c:ser>
        <c:ser>
          <c:idx val="3"/>
          <c:order val="4"/>
          <c:tx>
            <c:strRef>
              <c:f>results!$J$14</c:f>
              <c:strCache>
                <c:ptCount val="1"/>
                <c:pt idx="0">
                  <c:v>Seminars</c:v>
                </c:pt>
              </c:strCache>
            </c:strRef>
          </c:tx>
          <c:spPr>
            <a:gradFill flip="none" rotWithShape="1">
              <a:gsLst>
                <a:gs pos="0">
                  <a:schemeClr val="accent4"/>
                </a:gs>
                <a:gs pos="75000">
                  <a:schemeClr val="accent4">
                    <a:lumMod val="60000"/>
                    <a:lumOff val="40000"/>
                  </a:schemeClr>
                </a:gs>
                <a:gs pos="51000">
                  <a:schemeClr val="accent4">
                    <a:alpha val="75000"/>
                  </a:schemeClr>
                </a:gs>
                <a:gs pos="100000">
                  <a:schemeClr val="accent4">
                    <a:lumMod val="20000"/>
                    <a:lumOff val="80000"/>
                    <a:alpha val="15000"/>
                  </a:schemeClr>
                </a:gs>
              </a:gsLst>
              <a:lin ang="5400000" scaled="0"/>
            </a:gradFill>
            <a:ln>
              <a:noFill/>
            </a:ln>
            <a:effectLst/>
          </c:spPr>
          <c:invertIfNegative val="0"/>
          <c:cat>
            <c:strRef>
              <c:f>results!$L$10</c:f>
              <c:strCache>
                <c:ptCount val="1"/>
                <c:pt idx="0">
                  <c:v>Precent</c:v>
                </c:pt>
              </c:strCache>
            </c:strRef>
          </c:cat>
          <c:val>
            <c:numRef>
              <c:f>results!$L$14</c:f>
              <c:numCache>
                <c:formatCode>0%</c:formatCode>
                <c:ptCount val="1"/>
                <c:pt idx="0">
                  <c:v>0.46153846153846156</c:v>
                </c:pt>
              </c:numCache>
            </c:numRef>
          </c:val>
          <c:extLst>
            <c:ext xmlns:c16="http://schemas.microsoft.com/office/drawing/2014/chart" uri="{C3380CC4-5D6E-409C-BE32-E72D297353CC}">
              <c16:uniqueId val="{00000004-B646-4BD2-BC3B-1AA8287A3E49}"/>
            </c:ext>
          </c:extLst>
        </c:ser>
        <c:ser>
          <c:idx val="4"/>
          <c:order val="5"/>
          <c:tx>
            <c:strRef>
              <c:f>results!$J$15</c:f>
              <c:strCache>
                <c:ptCount val="1"/>
                <c:pt idx="0">
                  <c:v>Field Trips</c:v>
                </c:pt>
              </c:strCache>
            </c:strRef>
          </c:tx>
          <c:spPr>
            <a:gradFill flip="none" rotWithShape="1">
              <a:gsLst>
                <a:gs pos="0">
                  <a:schemeClr val="accent5"/>
                </a:gs>
                <a:gs pos="75000">
                  <a:schemeClr val="accent5">
                    <a:lumMod val="60000"/>
                    <a:lumOff val="40000"/>
                  </a:schemeClr>
                </a:gs>
                <a:gs pos="51000">
                  <a:schemeClr val="accent5">
                    <a:alpha val="75000"/>
                  </a:schemeClr>
                </a:gs>
                <a:gs pos="100000">
                  <a:schemeClr val="accent5">
                    <a:lumMod val="20000"/>
                    <a:lumOff val="80000"/>
                    <a:alpha val="15000"/>
                  </a:schemeClr>
                </a:gs>
              </a:gsLst>
              <a:lin ang="5400000" scaled="0"/>
            </a:gradFill>
            <a:ln>
              <a:noFill/>
            </a:ln>
            <a:effectLst/>
          </c:spPr>
          <c:invertIfNegative val="0"/>
          <c:cat>
            <c:strRef>
              <c:f>results!$L$10</c:f>
              <c:strCache>
                <c:ptCount val="1"/>
                <c:pt idx="0">
                  <c:v>Precent</c:v>
                </c:pt>
              </c:strCache>
            </c:strRef>
          </c:cat>
          <c:val>
            <c:numRef>
              <c:f>results!$L$15</c:f>
              <c:numCache>
                <c:formatCode>0%</c:formatCode>
                <c:ptCount val="1"/>
                <c:pt idx="0">
                  <c:v>0.42307692307692307</c:v>
                </c:pt>
              </c:numCache>
            </c:numRef>
          </c:val>
          <c:extLst>
            <c:ext xmlns:c16="http://schemas.microsoft.com/office/drawing/2014/chart" uri="{C3380CC4-5D6E-409C-BE32-E72D297353CC}">
              <c16:uniqueId val="{00000005-B646-4BD2-BC3B-1AA8287A3E49}"/>
            </c:ext>
          </c:extLst>
        </c:ser>
        <c:ser>
          <c:idx val="6"/>
          <c:order val="6"/>
          <c:tx>
            <c:strRef>
              <c:f>results!$J$17</c:f>
              <c:strCache>
                <c:ptCount val="1"/>
                <c:pt idx="0">
                  <c:v>Internships</c:v>
                </c:pt>
              </c:strCache>
            </c:strRef>
          </c:tx>
          <c:spPr>
            <a:gradFill flip="none" rotWithShape="1">
              <a:gsLst>
                <a:gs pos="0">
                  <a:schemeClr val="accent1">
                    <a:lumMod val="60000"/>
                  </a:schemeClr>
                </a:gs>
                <a:gs pos="75000">
                  <a:schemeClr val="accent1">
                    <a:lumMod val="60000"/>
                    <a:lumMod val="60000"/>
                    <a:lumOff val="40000"/>
                  </a:schemeClr>
                </a:gs>
                <a:gs pos="51000">
                  <a:schemeClr val="accent1">
                    <a:lumMod val="60000"/>
                    <a:alpha val="75000"/>
                  </a:schemeClr>
                </a:gs>
                <a:gs pos="100000">
                  <a:schemeClr val="accent1">
                    <a:lumMod val="60000"/>
                    <a:lumMod val="20000"/>
                    <a:lumOff val="80000"/>
                    <a:alpha val="15000"/>
                  </a:schemeClr>
                </a:gs>
              </a:gsLst>
              <a:lin ang="5400000" scaled="0"/>
            </a:gradFill>
            <a:ln>
              <a:noFill/>
            </a:ln>
            <a:effectLst/>
          </c:spPr>
          <c:invertIfNegative val="0"/>
          <c:cat>
            <c:strRef>
              <c:f>results!$L$10</c:f>
              <c:strCache>
                <c:ptCount val="1"/>
                <c:pt idx="0">
                  <c:v>Precent</c:v>
                </c:pt>
              </c:strCache>
            </c:strRef>
          </c:cat>
          <c:val>
            <c:numRef>
              <c:f>results!$L$17</c:f>
              <c:numCache>
                <c:formatCode>0%</c:formatCode>
                <c:ptCount val="1"/>
                <c:pt idx="0">
                  <c:v>0.26923076923076922</c:v>
                </c:pt>
              </c:numCache>
            </c:numRef>
          </c:val>
          <c:extLst>
            <c:ext xmlns:c16="http://schemas.microsoft.com/office/drawing/2014/chart" uri="{C3380CC4-5D6E-409C-BE32-E72D297353CC}">
              <c16:uniqueId val="{00000006-B646-4BD2-BC3B-1AA8287A3E49}"/>
            </c:ext>
          </c:extLst>
        </c:ser>
        <c:ser>
          <c:idx val="1"/>
          <c:order val="7"/>
          <c:tx>
            <c:strRef>
              <c:f>results!$J$12</c:f>
              <c:strCache>
                <c:ptCount val="1"/>
                <c:pt idx="0">
                  <c:v>Career 
Counseling </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cat>
            <c:strRef>
              <c:f>results!$L$10</c:f>
              <c:strCache>
                <c:ptCount val="1"/>
                <c:pt idx="0">
                  <c:v>Precent</c:v>
                </c:pt>
              </c:strCache>
            </c:strRef>
          </c:cat>
          <c:val>
            <c:numRef>
              <c:f>results!$L$12</c:f>
              <c:numCache>
                <c:formatCode>0%</c:formatCode>
                <c:ptCount val="1"/>
                <c:pt idx="0">
                  <c:v>0.26923076923076922</c:v>
                </c:pt>
              </c:numCache>
            </c:numRef>
          </c:val>
          <c:extLst>
            <c:ext xmlns:c16="http://schemas.microsoft.com/office/drawing/2014/chart" uri="{C3380CC4-5D6E-409C-BE32-E72D297353CC}">
              <c16:uniqueId val="{00000007-B646-4BD2-BC3B-1AA8287A3E49}"/>
            </c:ext>
          </c:extLst>
        </c:ser>
        <c:ser>
          <c:idx val="7"/>
          <c:order val="8"/>
          <c:tx>
            <c:strRef>
              <c:f>results!$J$18</c:f>
              <c:strCache>
                <c:ptCount val="1"/>
                <c:pt idx="0">
                  <c:v>Research </c:v>
                </c:pt>
              </c:strCache>
            </c:strRef>
          </c:tx>
          <c:spPr>
            <a:gradFill flip="none" rotWithShape="1">
              <a:gsLst>
                <a:gs pos="0">
                  <a:schemeClr val="accent2">
                    <a:lumMod val="60000"/>
                  </a:schemeClr>
                </a:gs>
                <a:gs pos="75000">
                  <a:schemeClr val="accent2">
                    <a:lumMod val="60000"/>
                    <a:lumMod val="60000"/>
                    <a:lumOff val="40000"/>
                  </a:schemeClr>
                </a:gs>
                <a:gs pos="51000">
                  <a:schemeClr val="accent2">
                    <a:lumMod val="60000"/>
                    <a:alpha val="75000"/>
                  </a:schemeClr>
                </a:gs>
                <a:gs pos="100000">
                  <a:schemeClr val="accent2">
                    <a:lumMod val="60000"/>
                    <a:lumMod val="20000"/>
                    <a:lumOff val="80000"/>
                    <a:alpha val="15000"/>
                  </a:schemeClr>
                </a:gs>
              </a:gsLst>
              <a:lin ang="5400000" scaled="0"/>
            </a:gradFill>
            <a:ln>
              <a:noFill/>
            </a:ln>
            <a:effectLst/>
          </c:spPr>
          <c:invertIfNegative val="0"/>
          <c:cat>
            <c:strRef>
              <c:f>results!$L$10</c:f>
              <c:strCache>
                <c:ptCount val="1"/>
                <c:pt idx="0">
                  <c:v>Precent</c:v>
                </c:pt>
              </c:strCache>
            </c:strRef>
          </c:cat>
          <c:val>
            <c:numRef>
              <c:f>results!$L$18</c:f>
              <c:numCache>
                <c:formatCode>0%</c:formatCode>
                <c:ptCount val="1"/>
                <c:pt idx="0">
                  <c:v>0.19230769230769232</c:v>
                </c:pt>
              </c:numCache>
            </c:numRef>
          </c:val>
          <c:extLst>
            <c:ext xmlns:c16="http://schemas.microsoft.com/office/drawing/2014/chart" uri="{C3380CC4-5D6E-409C-BE32-E72D297353CC}">
              <c16:uniqueId val="{00000008-B646-4BD2-BC3B-1AA8287A3E49}"/>
            </c:ext>
          </c:extLst>
        </c:ser>
        <c:dLbls>
          <c:showLegendKey val="0"/>
          <c:showVal val="0"/>
          <c:showCatName val="0"/>
          <c:showSerName val="0"/>
          <c:showPercent val="0"/>
          <c:showBubbleSize val="0"/>
        </c:dLbls>
        <c:gapWidth val="355"/>
        <c:overlap val="-70"/>
        <c:axId val="566841359"/>
        <c:axId val="566840943"/>
      </c:barChart>
      <c:catAx>
        <c:axId val="566841359"/>
        <c:scaling>
          <c:orientation val="minMax"/>
        </c:scaling>
        <c:delete val="1"/>
        <c:axPos val="b"/>
        <c:numFmt formatCode="General" sourceLinked="1"/>
        <c:majorTickMark val="none"/>
        <c:minorTickMark val="none"/>
        <c:tickLblPos val="nextTo"/>
        <c:crossAx val="566840943"/>
        <c:crosses val="autoZero"/>
        <c:auto val="1"/>
        <c:lblAlgn val="ctr"/>
        <c:lblOffset val="100"/>
        <c:noMultiLvlLbl val="0"/>
      </c:catAx>
      <c:valAx>
        <c:axId val="566840943"/>
        <c:scaling>
          <c:orientation val="minMax"/>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566841359"/>
        <c:crosses val="autoZero"/>
        <c:crossBetween val="between"/>
      </c:valAx>
      <c:spPr>
        <a:noFill/>
        <a:ln>
          <a:noFill/>
        </a:ln>
        <a:effectLst/>
      </c:spPr>
    </c:plotArea>
    <c:plotVisOnly val="1"/>
    <c:dispBlanksAs val="gap"/>
    <c:showDLblsOverMax val="0"/>
  </c:chart>
  <c:spPr>
    <a:noFill/>
    <a:ln>
      <a:noFill/>
    </a:ln>
    <a:effectLst/>
  </c:spPr>
  <c:txPr>
    <a:bodyPr/>
    <a:lstStyle/>
    <a:p>
      <a:pPr>
        <a:defRPr sz="32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0" i="0" u="none" strike="noStrike" kern="1200" cap="none" spc="5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3600" b="0" cap="none" baseline="0" dirty="0">
                <a:latin typeface="Times New Roman" panose="02020603050405020304" pitchFamily="18" charset="0"/>
                <a:cs typeface="Times New Roman" panose="02020603050405020304" pitchFamily="18" charset="0"/>
              </a:rPr>
              <a:t>Histogram of student GPA per supported semester</a:t>
            </a:r>
          </a:p>
        </c:rich>
      </c:tx>
      <c:layout>
        <c:manualLayout>
          <c:xMode val="edge"/>
          <c:yMode val="edge"/>
          <c:x val="0.1136772856794452"/>
          <c:y val="1.5337351869043513E-2"/>
        </c:manualLayout>
      </c:layout>
      <c:overlay val="0"/>
      <c:spPr>
        <a:noFill/>
        <a:ln>
          <a:solidFill>
            <a:schemeClr val="bg1"/>
          </a:solidFill>
        </a:ln>
        <a:effectLst/>
      </c:spPr>
      <c:txPr>
        <a:bodyPr rot="0" spcFirstLastPara="1" vertOverflow="ellipsis" vert="horz" wrap="square" anchor="ctr" anchorCtr="1"/>
        <a:lstStyle/>
        <a:p>
          <a:pPr>
            <a:defRPr sz="3600" b="0" i="0" u="none" strike="noStrike" kern="1200" cap="none" spc="5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14758869964167864"/>
          <c:y val="0.15394491699628746"/>
          <c:w val="0.85241130035832136"/>
          <c:h val="0.64912618683508461"/>
        </c:manualLayout>
      </c:layout>
      <c:barChart>
        <c:barDir val="col"/>
        <c:grouping val="clustered"/>
        <c:varyColors val="0"/>
        <c:ser>
          <c:idx val="0"/>
          <c:order val="0"/>
          <c:tx>
            <c:strRef>
              <c:f>GPA!$D$1</c:f>
              <c:strCache>
                <c:ptCount val="1"/>
                <c:pt idx="0">
                  <c:v>Precent</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cat>
            <c:numRef>
              <c:f>GPA!$B$8:$B$12</c:f>
              <c:numCache>
                <c:formatCode>General</c:formatCode>
                <c:ptCount val="5"/>
                <c:pt idx="0">
                  <c:v>3</c:v>
                </c:pt>
                <c:pt idx="1">
                  <c:v>3.25</c:v>
                </c:pt>
                <c:pt idx="2">
                  <c:v>3.5</c:v>
                </c:pt>
                <c:pt idx="3">
                  <c:v>3.75</c:v>
                </c:pt>
                <c:pt idx="4">
                  <c:v>4</c:v>
                </c:pt>
              </c:numCache>
              <c:extLst/>
            </c:numRef>
          </c:cat>
          <c:val>
            <c:numRef>
              <c:f>GPA!$D$8:$D$12</c:f>
              <c:numCache>
                <c:formatCode>0%</c:formatCode>
                <c:ptCount val="5"/>
                <c:pt idx="0">
                  <c:v>2.5210084033613446E-2</c:v>
                </c:pt>
                <c:pt idx="1">
                  <c:v>8.4033613445378158E-2</c:v>
                </c:pt>
                <c:pt idx="2">
                  <c:v>0.21008403361344538</c:v>
                </c:pt>
                <c:pt idx="3">
                  <c:v>0.21848739495798319</c:v>
                </c:pt>
                <c:pt idx="4">
                  <c:v>0.41176470588235292</c:v>
                </c:pt>
              </c:numCache>
              <c:extLst/>
            </c:numRef>
          </c:val>
          <c:extLst>
            <c:ext xmlns:c16="http://schemas.microsoft.com/office/drawing/2014/chart" uri="{C3380CC4-5D6E-409C-BE32-E72D297353CC}">
              <c16:uniqueId val="{00000000-D382-4F39-A52E-3FA3323B2056}"/>
            </c:ext>
          </c:extLst>
        </c:ser>
        <c:dLbls>
          <c:showLegendKey val="0"/>
          <c:showVal val="0"/>
          <c:showCatName val="0"/>
          <c:showSerName val="0"/>
          <c:showPercent val="0"/>
          <c:showBubbleSize val="0"/>
        </c:dLbls>
        <c:gapWidth val="84"/>
        <c:overlap val="-100"/>
        <c:axId val="874065775"/>
        <c:axId val="874067023"/>
      </c:barChart>
      <c:catAx>
        <c:axId val="8740657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crossAx val="874067023"/>
        <c:crosses val="autoZero"/>
        <c:auto val="1"/>
        <c:lblAlgn val="ctr"/>
        <c:lblOffset val="100"/>
        <c:noMultiLvlLbl val="0"/>
      </c:catAx>
      <c:valAx>
        <c:axId val="874067023"/>
        <c:scaling>
          <c:orientation val="minMax"/>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title>
          <c:tx>
            <c:rich>
              <a:bodyPr rot="-5400000" spcFirstLastPara="1" vertOverflow="ellipsis" vert="horz" wrap="square" anchor="ctr" anchorCtr="1"/>
              <a:lstStyle/>
              <a:p>
                <a:pPr>
                  <a:defRPr sz="1600" b="0" i="0" u="none" strike="noStrike" kern="1200" cap="all"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3200" b="0" cap="none" baseline="0" dirty="0">
                    <a:latin typeface="Times New Roman" panose="02020603050405020304" pitchFamily="18" charset="0"/>
                    <a:cs typeface="Times New Roman" panose="02020603050405020304" pitchFamily="18" charset="0"/>
                  </a:rPr>
                  <a:t>F</a:t>
                </a:r>
                <a:r>
                  <a:rPr lang="en-US" sz="3200" cap="none" baseline="0" dirty="0">
                    <a:latin typeface="Times New Roman" panose="02020603050405020304" pitchFamily="18" charset="0"/>
                    <a:cs typeface="Times New Roman" panose="02020603050405020304" pitchFamily="18" charset="0"/>
                  </a:rPr>
                  <a:t>requency</a:t>
                </a:r>
              </a:p>
            </c:rich>
          </c:tx>
          <c:layout>
            <c:manualLayout>
              <c:xMode val="edge"/>
              <c:yMode val="edge"/>
              <c:x val="6.353481178228905E-3"/>
              <c:y val="0.31119935503761276"/>
            </c:manualLayout>
          </c:layout>
          <c:overlay val="0"/>
          <c:spPr>
            <a:noFill/>
            <a:ln>
              <a:noFill/>
            </a:ln>
            <a:effectLst/>
          </c:spPr>
          <c:txPr>
            <a:bodyPr rot="-5400000" spcFirstLastPara="1" vertOverflow="ellipsis" vert="horz" wrap="square" anchor="ctr" anchorCtr="1"/>
            <a:lstStyle/>
            <a:p>
              <a:pPr>
                <a:defRPr sz="1600" b="0" i="0" u="none" strike="noStrike" kern="1200" cap="all"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874065775"/>
        <c:crosses val="autoZero"/>
        <c:crossBetween val="between"/>
      </c:valAx>
      <c:spPr>
        <a:noFill/>
        <a:ln>
          <a:noFill/>
        </a:ln>
        <a:effectLst/>
      </c:spPr>
    </c:plotArea>
    <c:plotVisOnly val="1"/>
    <c:dispBlanksAs val="gap"/>
    <c:showDLblsOverMax val="0"/>
  </c:chart>
  <c:spPr>
    <a:noFill/>
    <a:ln>
      <a:noFill/>
    </a:ln>
    <a:effectLst/>
  </c:spPr>
  <c:txPr>
    <a:bodyPr/>
    <a:lstStyle/>
    <a:p>
      <a:pPr>
        <a:defRPr sz="16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533886583679116"/>
          <c:y val="3.0140731186107847E-3"/>
          <c:w val="0.66085971618692896"/>
          <c:h val="0.7788126728657695"/>
        </c:manualLayout>
      </c:layout>
      <c:pieChart>
        <c:varyColors val="1"/>
        <c:ser>
          <c:idx val="0"/>
          <c:order val="0"/>
          <c:tx>
            <c:strRef>
              <c:f>Demographic!$E$2</c:f>
              <c:strCache>
                <c:ptCount val="1"/>
                <c:pt idx="0">
                  <c:v>Frequency</c:v>
                </c:pt>
              </c:strCache>
            </c:strRef>
          </c:tx>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BBF1-47A4-9ECD-AFCB5E809A41}"/>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BBF1-47A4-9ECD-AFCB5E809A41}"/>
              </c:ext>
            </c:extLst>
          </c:dPt>
          <c:dLbls>
            <c:spPr>
              <a:noFill/>
              <a:ln>
                <a:noFill/>
              </a:ln>
              <a:effectLst/>
            </c:spPr>
            <c:txPr>
              <a:bodyPr rot="0" spcFirstLastPara="1" vertOverflow="ellipsis" vert="horz" wrap="square" anchor="ctr" anchorCtr="1"/>
              <a:lstStyle/>
              <a:p>
                <a:pPr>
                  <a:defRPr sz="36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ct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Demographic!$D$3:$D$4</c:f>
              <c:strCache>
                <c:ptCount val="2"/>
                <c:pt idx="0">
                  <c:v>Female</c:v>
                </c:pt>
                <c:pt idx="1">
                  <c:v>Male</c:v>
                </c:pt>
              </c:strCache>
            </c:strRef>
          </c:cat>
          <c:val>
            <c:numRef>
              <c:f>Demographic!$E$3:$E$4</c:f>
              <c:numCache>
                <c:formatCode>General</c:formatCode>
                <c:ptCount val="2"/>
                <c:pt idx="0">
                  <c:v>10</c:v>
                </c:pt>
                <c:pt idx="1">
                  <c:v>16</c:v>
                </c:pt>
              </c:numCache>
            </c:numRef>
          </c:val>
          <c:extLst>
            <c:ext xmlns:c16="http://schemas.microsoft.com/office/drawing/2014/chart" uri="{C3380CC4-5D6E-409C-BE32-E72D297353CC}">
              <c16:uniqueId val="{00000004-BBF1-47A4-9ECD-AFCB5E809A41}"/>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3.6060695753759441E-2"/>
          <c:y val="0.82612423685826375"/>
          <c:w val="0.8825059510348936"/>
          <c:h val="0.13342420217032774"/>
        </c:manualLayout>
      </c:layout>
      <c:overlay val="0"/>
      <c:spPr>
        <a:solidFill>
          <a:schemeClr val="lt1">
            <a:alpha val="50000"/>
          </a:schemeClr>
        </a:solidFill>
        <a:ln>
          <a:noFill/>
        </a:ln>
        <a:effectLst/>
      </c:spPr>
      <c:txPr>
        <a:bodyPr rot="0" spcFirstLastPara="1" vertOverflow="ellipsis" vert="horz" wrap="square" anchor="ctr" anchorCtr="1"/>
        <a:lstStyle/>
        <a:p>
          <a:pPr>
            <a:defRPr sz="36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w="9525" cap="flat" cmpd="sng" algn="ctr">
      <a:noFill/>
      <a:round/>
    </a:ln>
    <a:effectLst/>
  </c:spPr>
  <c:txPr>
    <a:bodyPr/>
    <a:lstStyle/>
    <a:p>
      <a:pPr>
        <a:defRPr sz="28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722878139602972"/>
          <c:y val="4.7584050022854062E-2"/>
          <c:w val="0.7480747527107765"/>
          <c:h val="0.67320456238384752"/>
        </c:manualLayout>
      </c:layout>
      <c:pieChart>
        <c:varyColors val="1"/>
        <c:ser>
          <c:idx val="0"/>
          <c:order val="0"/>
          <c:tx>
            <c:strRef>
              <c:f>Demographic!$H$2</c:f>
              <c:strCache>
                <c:ptCount val="1"/>
                <c:pt idx="0">
                  <c:v>Frequency</c:v>
                </c:pt>
              </c:strCache>
            </c:strRef>
          </c:tx>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7CD6-43EA-B4C1-BA499DACB57F}"/>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7CD6-43EA-B4C1-BA499DACB57F}"/>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7CD6-43EA-B4C1-BA499DACB57F}"/>
              </c:ext>
            </c:extLst>
          </c:dPt>
          <c:dLbls>
            <c:dLbl>
              <c:idx val="0"/>
              <c:layout>
                <c:manualLayout>
                  <c:x val="-8.3090036323927613E-2"/>
                  <c:y val="0.11926998888763021"/>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CD6-43EA-B4C1-BA499DACB57F}"/>
                </c:ext>
              </c:extLst>
            </c:dLbl>
            <c:spPr>
              <a:noFill/>
              <a:ln>
                <a:noFill/>
              </a:ln>
              <a:effectLst/>
            </c:spPr>
            <c:txPr>
              <a:bodyPr rot="0" spcFirstLastPara="1" vertOverflow="ellipsis" vert="horz" wrap="square" anchor="ctr" anchorCtr="1"/>
              <a:lstStyle/>
              <a:p>
                <a:pPr>
                  <a:defRPr sz="36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ct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Demographic!$G$3:$G$5</c:f>
              <c:strCache>
                <c:ptCount val="3"/>
                <c:pt idx="0">
                  <c:v>Asian</c:v>
                </c:pt>
                <c:pt idx="1">
                  <c:v>Black or African American</c:v>
                </c:pt>
                <c:pt idx="2">
                  <c:v>White</c:v>
                </c:pt>
              </c:strCache>
            </c:strRef>
          </c:cat>
          <c:val>
            <c:numRef>
              <c:f>Demographic!$H$3:$H$5</c:f>
              <c:numCache>
                <c:formatCode>General</c:formatCode>
                <c:ptCount val="3"/>
                <c:pt idx="0">
                  <c:v>3</c:v>
                </c:pt>
                <c:pt idx="1">
                  <c:v>10</c:v>
                </c:pt>
                <c:pt idx="2">
                  <c:v>15</c:v>
                </c:pt>
              </c:numCache>
            </c:numRef>
          </c:val>
          <c:extLst>
            <c:ext xmlns:c16="http://schemas.microsoft.com/office/drawing/2014/chart" uri="{C3380CC4-5D6E-409C-BE32-E72D297353CC}">
              <c16:uniqueId val="{00000006-7CD6-43EA-B4C1-BA499DACB57F}"/>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egendEntry>
        <c:idx val="0"/>
        <c:txPr>
          <a:bodyPr rot="0" spcFirstLastPara="1" vertOverflow="ellipsis" vert="horz" wrap="square" anchor="ctr" anchorCtr="1"/>
          <a:lstStyle/>
          <a:p>
            <a:pPr>
              <a:defRPr sz="36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Entry>
      <c:layout>
        <c:manualLayout>
          <c:xMode val="edge"/>
          <c:yMode val="edge"/>
          <c:x val="3.7233921543349808E-3"/>
          <c:y val="0.77205075691291558"/>
          <c:w val="0.99405091416481506"/>
          <c:h val="0.21822400841732473"/>
        </c:manualLayout>
      </c:layout>
      <c:overlay val="0"/>
      <c:spPr>
        <a:solidFill>
          <a:schemeClr val="lt1">
            <a:alpha val="50000"/>
          </a:schemeClr>
        </a:solidFill>
        <a:ln>
          <a:noFill/>
        </a:ln>
        <a:effectLst/>
      </c:spPr>
      <c:txPr>
        <a:bodyPr rot="0" spcFirstLastPara="1" vertOverflow="ellipsis" vert="horz" wrap="square" anchor="ctr" anchorCtr="1"/>
        <a:lstStyle/>
        <a:p>
          <a:pPr>
            <a:defRPr sz="36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36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D5960A-A2AB-47EC-8D21-37B42D1B98A5}"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608ECE7-725C-49DE-A6BC-1C5CD35A465D}">
      <dgm:prSet custT="1"/>
      <dgm:spPr/>
      <dgm:t>
        <a:bodyPr/>
        <a:lstStyle/>
        <a:p>
          <a:pPr>
            <a:defRPr cap="all"/>
          </a:pPr>
          <a:r>
            <a:rPr lang="en-US" sz="3200" cap="none" baseline="0" dirty="0"/>
            <a:t>Peer tutoring and faculty mentoring, </a:t>
          </a:r>
        </a:p>
      </dgm:t>
    </dgm:pt>
    <dgm:pt modelId="{03632D6A-63DC-442B-B676-B69B22E58F31}" type="parTrans" cxnId="{E130113B-D3BE-4C11-90D1-72C5AA2D3087}">
      <dgm:prSet/>
      <dgm:spPr/>
      <dgm:t>
        <a:bodyPr/>
        <a:lstStyle/>
        <a:p>
          <a:endParaRPr lang="en-US" sz="2400"/>
        </a:p>
      </dgm:t>
    </dgm:pt>
    <dgm:pt modelId="{81E78ACE-15C8-4A27-AFFF-2D93E74316D7}" type="sibTrans" cxnId="{E130113B-D3BE-4C11-90D1-72C5AA2D3087}">
      <dgm:prSet/>
      <dgm:spPr/>
      <dgm:t>
        <a:bodyPr/>
        <a:lstStyle/>
        <a:p>
          <a:endParaRPr lang="en-US" sz="2400"/>
        </a:p>
      </dgm:t>
    </dgm:pt>
    <dgm:pt modelId="{B6D79785-1E5C-4B01-8D62-B3CAF123ACDF}">
      <dgm:prSet custT="1"/>
      <dgm:spPr/>
      <dgm:t>
        <a:bodyPr/>
        <a:lstStyle/>
        <a:p>
          <a:pPr marL="0" lvl="0" indent="0" algn="ctr" defTabSz="1111250">
            <a:lnSpc>
              <a:spcPct val="90000"/>
            </a:lnSpc>
            <a:spcBef>
              <a:spcPct val="0"/>
            </a:spcBef>
            <a:spcAft>
              <a:spcPct val="35000"/>
            </a:spcAft>
            <a:buNone/>
            <a:defRPr cap="all"/>
          </a:pPr>
          <a:r>
            <a:rPr lang="en-US" sz="3200" kern="1200" cap="none" baseline="0" dirty="0">
              <a:solidFill>
                <a:prstClr val="black">
                  <a:hueOff val="0"/>
                  <a:satOff val="0"/>
                  <a:lumOff val="0"/>
                  <a:alphaOff val="0"/>
                </a:prstClr>
              </a:solidFill>
              <a:latin typeface="Calibri"/>
              <a:ea typeface="+mn-ea"/>
              <a:cs typeface="+mn-cs"/>
            </a:rPr>
            <a:t>Cyber Learning Community (LC) </a:t>
          </a:r>
        </a:p>
      </dgm:t>
    </dgm:pt>
    <dgm:pt modelId="{A948FAFF-16A5-4DBE-B69F-A72035C54281}" type="parTrans" cxnId="{C7AF42C3-14B0-40F3-A67C-3B4AE9184AE6}">
      <dgm:prSet/>
      <dgm:spPr/>
      <dgm:t>
        <a:bodyPr/>
        <a:lstStyle/>
        <a:p>
          <a:endParaRPr lang="en-US" sz="2400"/>
        </a:p>
      </dgm:t>
    </dgm:pt>
    <dgm:pt modelId="{A85A92C5-3B97-47A3-A0EF-1E43223BA0DC}" type="sibTrans" cxnId="{C7AF42C3-14B0-40F3-A67C-3B4AE9184AE6}">
      <dgm:prSet/>
      <dgm:spPr/>
      <dgm:t>
        <a:bodyPr/>
        <a:lstStyle/>
        <a:p>
          <a:endParaRPr lang="en-US" sz="2400"/>
        </a:p>
      </dgm:t>
    </dgm:pt>
    <dgm:pt modelId="{016140AE-237F-400D-9B79-32769DF58C2D}">
      <dgm:prSet custT="1"/>
      <dgm:spPr/>
      <dgm:t>
        <a:bodyPr/>
        <a:lstStyle/>
        <a:p>
          <a:pPr marL="0" lvl="0" indent="0" algn="ctr" defTabSz="1111250">
            <a:lnSpc>
              <a:spcPct val="90000"/>
            </a:lnSpc>
            <a:spcBef>
              <a:spcPct val="0"/>
            </a:spcBef>
            <a:spcAft>
              <a:spcPct val="35000"/>
            </a:spcAft>
            <a:buNone/>
            <a:defRPr cap="all"/>
          </a:pPr>
          <a:r>
            <a:rPr lang="en-US" sz="3200" kern="1200" cap="none" baseline="0" dirty="0">
              <a:solidFill>
                <a:prstClr val="black">
                  <a:hueOff val="0"/>
                  <a:satOff val="0"/>
                  <a:lumOff val="0"/>
                  <a:alphaOff val="0"/>
                </a:prstClr>
              </a:solidFill>
              <a:latin typeface="Calibri"/>
              <a:ea typeface="+mn-ea"/>
              <a:cs typeface="+mn-cs"/>
            </a:rPr>
            <a:t>Internship and summer research, </a:t>
          </a:r>
        </a:p>
      </dgm:t>
    </dgm:pt>
    <dgm:pt modelId="{F0A0F134-97D4-4EFF-84BE-DD5CF6EFC4F6}" type="parTrans" cxnId="{AF7640E2-297D-41CC-9CF6-E47BFF7932B3}">
      <dgm:prSet/>
      <dgm:spPr/>
      <dgm:t>
        <a:bodyPr/>
        <a:lstStyle/>
        <a:p>
          <a:endParaRPr lang="en-US" sz="2400"/>
        </a:p>
      </dgm:t>
    </dgm:pt>
    <dgm:pt modelId="{63AF4AC2-755E-4188-9536-454D0064221B}" type="sibTrans" cxnId="{AF7640E2-297D-41CC-9CF6-E47BFF7932B3}">
      <dgm:prSet/>
      <dgm:spPr/>
      <dgm:t>
        <a:bodyPr/>
        <a:lstStyle/>
        <a:p>
          <a:endParaRPr lang="en-US" sz="2400"/>
        </a:p>
      </dgm:t>
    </dgm:pt>
    <dgm:pt modelId="{200548AD-ACB1-42A2-9D53-17EFDAF163B0}">
      <dgm:prSet custT="1"/>
      <dgm:spPr/>
      <dgm:t>
        <a:bodyPr/>
        <a:lstStyle/>
        <a:p>
          <a:pPr marL="0" lvl="0" indent="0" algn="ctr" defTabSz="1111250">
            <a:lnSpc>
              <a:spcPct val="90000"/>
            </a:lnSpc>
            <a:spcBef>
              <a:spcPct val="0"/>
            </a:spcBef>
            <a:spcAft>
              <a:spcPct val="35000"/>
            </a:spcAft>
            <a:buNone/>
            <a:defRPr cap="all"/>
          </a:pPr>
          <a:r>
            <a:rPr lang="en-US" sz="3200" kern="1200" cap="none" baseline="0" dirty="0">
              <a:solidFill>
                <a:prstClr val="black">
                  <a:hueOff val="0"/>
                  <a:satOff val="0"/>
                  <a:lumOff val="0"/>
                  <a:alphaOff val="0"/>
                </a:prstClr>
              </a:solidFill>
              <a:latin typeface="Calibri"/>
              <a:ea typeface="+mn-ea"/>
              <a:cs typeface="+mn-cs"/>
            </a:rPr>
            <a:t>Cyber Competition Team </a:t>
          </a:r>
        </a:p>
      </dgm:t>
    </dgm:pt>
    <dgm:pt modelId="{2949EE09-D8F2-49FD-9B4E-2BA567D829FD}" type="parTrans" cxnId="{08DCF061-0CBA-4B14-A58B-072FCA91F1F9}">
      <dgm:prSet/>
      <dgm:spPr/>
      <dgm:t>
        <a:bodyPr/>
        <a:lstStyle/>
        <a:p>
          <a:endParaRPr lang="en-US" sz="2400"/>
        </a:p>
      </dgm:t>
    </dgm:pt>
    <dgm:pt modelId="{C1F9DABF-96C6-4354-BB8A-90552990D767}" type="sibTrans" cxnId="{08DCF061-0CBA-4B14-A58B-072FCA91F1F9}">
      <dgm:prSet/>
      <dgm:spPr/>
      <dgm:t>
        <a:bodyPr/>
        <a:lstStyle/>
        <a:p>
          <a:endParaRPr lang="en-US" sz="2400"/>
        </a:p>
      </dgm:t>
    </dgm:pt>
    <dgm:pt modelId="{D50D3B02-BC77-4B38-A09B-02CF8D379E1B}" type="pres">
      <dgm:prSet presAssocID="{C9D5960A-A2AB-47EC-8D21-37B42D1B98A5}" presName="root" presStyleCnt="0">
        <dgm:presLayoutVars>
          <dgm:dir/>
          <dgm:resizeHandles val="exact"/>
        </dgm:presLayoutVars>
      </dgm:prSet>
      <dgm:spPr/>
    </dgm:pt>
    <dgm:pt modelId="{8E05C557-E393-4CAB-89F6-F87116DBA61B}" type="pres">
      <dgm:prSet presAssocID="{4608ECE7-725C-49DE-A6BC-1C5CD35A465D}" presName="compNode" presStyleCnt="0"/>
      <dgm:spPr/>
    </dgm:pt>
    <dgm:pt modelId="{3CC0E9F4-FB77-4222-B938-8B81D45E5468}" type="pres">
      <dgm:prSet presAssocID="{4608ECE7-725C-49DE-A6BC-1C5CD35A465D}" presName="iconBgRect" presStyleLbl="bgShp" presStyleIdx="0" presStyleCnt="4"/>
      <dgm:spPr/>
    </dgm:pt>
    <dgm:pt modelId="{CE1211B2-44DE-4749-91DB-EE0793C0BAC7}" type="pres">
      <dgm:prSet presAssocID="{4608ECE7-725C-49DE-A6BC-1C5CD35A465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5BB56C23-8F74-486D-9D5F-A16975B55666}" type="pres">
      <dgm:prSet presAssocID="{4608ECE7-725C-49DE-A6BC-1C5CD35A465D}" presName="spaceRect" presStyleCnt="0"/>
      <dgm:spPr/>
    </dgm:pt>
    <dgm:pt modelId="{7A8AAF4D-4623-41B1-A5EF-482414B5CBAF}" type="pres">
      <dgm:prSet presAssocID="{4608ECE7-725C-49DE-A6BC-1C5CD35A465D}" presName="textRect" presStyleLbl="revTx" presStyleIdx="0" presStyleCnt="4">
        <dgm:presLayoutVars>
          <dgm:chMax val="1"/>
          <dgm:chPref val="1"/>
        </dgm:presLayoutVars>
      </dgm:prSet>
      <dgm:spPr/>
    </dgm:pt>
    <dgm:pt modelId="{C29B0C00-B35F-49BF-A21F-D4DE10952C48}" type="pres">
      <dgm:prSet presAssocID="{81E78ACE-15C8-4A27-AFFF-2D93E74316D7}" presName="sibTrans" presStyleCnt="0"/>
      <dgm:spPr/>
    </dgm:pt>
    <dgm:pt modelId="{CB22C53D-F42E-4277-9458-57B451ED8435}" type="pres">
      <dgm:prSet presAssocID="{B6D79785-1E5C-4B01-8D62-B3CAF123ACDF}" presName="compNode" presStyleCnt="0"/>
      <dgm:spPr/>
    </dgm:pt>
    <dgm:pt modelId="{0572FCB7-B770-4437-8FF7-5DDF31B9101A}" type="pres">
      <dgm:prSet presAssocID="{B6D79785-1E5C-4B01-8D62-B3CAF123ACDF}" presName="iconBgRect" presStyleLbl="bgShp" presStyleIdx="1" presStyleCnt="4"/>
      <dgm:spPr/>
    </dgm:pt>
    <dgm:pt modelId="{A1577DA5-C3AE-4FAA-B523-38743193D04C}" type="pres">
      <dgm:prSet presAssocID="{B6D79785-1E5C-4B01-8D62-B3CAF123ACD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9E76CA25-1AED-48CC-9C36-D7C4B694BB99}" type="pres">
      <dgm:prSet presAssocID="{B6D79785-1E5C-4B01-8D62-B3CAF123ACDF}" presName="spaceRect" presStyleCnt="0"/>
      <dgm:spPr/>
    </dgm:pt>
    <dgm:pt modelId="{6EBF9D00-88B5-4A6F-B58E-D2F6021AD520}" type="pres">
      <dgm:prSet presAssocID="{B6D79785-1E5C-4B01-8D62-B3CAF123ACDF}" presName="textRect" presStyleLbl="revTx" presStyleIdx="1" presStyleCnt="4">
        <dgm:presLayoutVars>
          <dgm:chMax val="1"/>
          <dgm:chPref val="1"/>
        </dgm:presLayoutVars>
      </dgm:prSet>
      <dgm:spPr/>
    </dgm:pt>
    <dgm:pt modelId="{A2BD96B3-0BFC-4F2E-B407-580ED4C6A7ED}" type="pres">
      <dgm:prSet presAssocID="{A85A92C5-3B97-47A3-A0EF-1E43223BA0DC}" presName="sibTrans" presStyleCnt="0"/>
      <dgm:spPr/>
    </dgm:pt>
    <dgm:pt modelId="{2DA785B3-C848-40A5-A74F-86B1B225880D}" type="pres">
      <dgm:prSet presAssocID="{016140AE-237F-400D-9B79-32769DF58C2D}" presName="compNode" presStyleCnt="0"/>
      <dgm:spPr/>
    </dgm:pt>
    <dgm:pt modelId="{747A3815-BAA0-49DE-A3DD-4F0C9741C3C1}" type="pres">
      <dgm:prSet presAssocID="{016140AE-237F-400D-9B79-32769DF58C2D}" presName="iconBgRect" presStyleLbl="bgShp" presStyleIdx="2" presStyleCnt="4"/>
      <dgm:spPr/>
    </dgm:pt>
    <dgm:pt modelId="{3DE4F788-6261-4470-8F7A-09A0D4B6E437}" type="pres">
      <dgm:prSet presAssocID="{016140AE-237F-400D-9B79-32769DF58C2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each umbrella"/>
        </a:ext>
      </dgm:extLst>
    </dgm:pt>
    <dgm:pt modelId="{B245FC06-27AF-482D-8FB8-7F5B6D729B56}" type="pres">
      <dgm:prSet presAssocID="{016140AE-237F-400D-9B79-32769DF58C2D}" presName="spaceRect" presStyleCnt="0"/>
      <dgm:spPr/>
    </dgm:pt>
    <dgm:pt modelId="{38E24C66-2357-49EC-B963-93BB7397E9AE}" type="pres">
      <dgm:prSet presAssocID="{016140AE-237F-400D-9B79-32769DF58C2D}" presName="textRect" presStyleLbl="revTx" presStyleIdx="2" presStyleCnt="4">
        <dgm:presLayoutVars>
          <dgm:chMax val="1"/>
          <dgm:chPref val="1"/>
        </dgm:presLayoutVars>
      </dgm:prSet>
      <dgm:spPr/>
    </dgm:pt>
    <dgm:pt modelId="{692F685C-A963-4B9F-A7E0-5077319DB149}" type="pres">
      <dgm:prSet presAssocID="{63AF4AC2-755E-4188-9536-454D0064221B}" presName="sibTrans" presStyleCnt="0"/>
      <dgm:spPr/>
    </dgm:pt>
    <dgm:pt modelId="{27E95119-954E-4300-BFEE-F12AA316B9FB}" type="pres">
      <dgm:prSet presAssocID="{200548AD-ACB1-42A2-9D53-17EFDAF163B0}" presName="compNode" presStyleCnt="0"/>
      <dgm:spPr/>
    </dgm:pt>
    <dgm:pt modelId="{EA7198D3-09D8-4FC2-9F1D-6CECAEBF6AD4}" type="pres">
      <dgm:prSet presAssocID="{200548AD-ACB1-42A2-9D53-17EFDAF163B0}" presName="iconBgRect" presStyleLbl="bgShp" presStyleIdx="3" presStyleCnt="4"/>
      <dgm:spPr/>
    </dgm:pt>
    <dgm:pt modelId="{959C770F-DB2C-4050-97BD-35D792BE1AE7}" type="pres">
      <dgm:prSet presAssocID="{200548AD-ACB1-42A2-9D53-17EFDAF163B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873D7B47-BF2E-45A7-9DFD-B15AFF67689D}" type="pres">
      <dgm:prSet presAssocID="{200548AD-ACB1-42A2-9D53-17EFDAF163B0}" presName="spaceRect" presStyleCnt="0"/>
      <dgm:spPr/>
    </dgm:pt>
    <dgm:pt modelId="{80747F69-60D1-4A8F-B2E6-2572DD594446}" type="pres">
      <dgm:prSet presAssocID="{200548AD-ACB1-42A2-9D53-17EFDAF163B0}" presName="textRect" presStyleLbl="revTx" presStyleIdx="3" presStyleCnt="4">
        <dgm:presLayoutVars>
          <dgm:chMax val="1"/>
          <dgm:chPref val="1"/>
        </dgm:presLayoutVars>
      </dgm:prSet>
      <dgm:spPr/>
    </dgm:pt>
  </dgm:ptLst>
  <dgm:cxnLst>
    <dgm:cxn modelId="{8553E502-74DF-4B78-B803-25396E792966}" type="presOf" srcId="{4608ECE7-725C-49DE-A6BC-1C5CD35A465D}" destId="{7A8AAF4D-4623-41B1-A5EF-482414B5CBAF}" srcOrd="0" destOrd="0" presId="urn:microsoft.com/office/officeart/2018/5/layout/IconCircleLabelList"/>
    <dgm:cxn modelId="{E130113B-D3BE-4C11-90D1-72C5AA2D3087}" srcId="{C9D5960A-A2AB-47EC-8D21-37B42D1B98A5}" destId="{4608ECE7-725C-49DE-A6BC-1C5CD35A465D}" srcOrd="0" destOrd="0" parTransId="{03632D6A-63DC-442B-B676-B69B22E58F31}" sibTransId="{81E78ACE-15C8-4A27-AFFF-2D93E74316D7}"/>
    <dgm:cxn modelId="{7DCB4144-94F4-4606-B5C1-05FB82039775}" type="presOf" srcId="{C9D5960A-A2AB-47EC-8D21-37B42D1B98A5}" destId="{D50D3B02-BC77-4B38-A09B-02CF8D379E1B}" srcOrd="0" destOrd="0" presId="urn:microsoft.com/office/officeart/2018/5/layout/IconCircleLabelList"/>
    <dgm:cxn modelId="{08DCF061-0CBA-4B14-A58B-072FCA91F1F9}" srcId="{C9D5960A-A2AB-47EC-8D21-37B42D1B98A5}" destId="{200548AD-ACB1-42A2-9D53-17EFDAF163B0}" srcOrd="3" destOrd="0" parTransId="{2949EE09-D8F2-49FD-9B4E-2BA567D829FD}" sibTransId="{C1F9DABF-96C6-4354-BB8A-90552990D767}"/>
    <dgm:cxn modelId="{86CC01AF-A871-4ECC-B0D1-2E26F76E38F7}" type="presOf" srcId="{200548AD-ACB1-42A2-9D53-17EFDAF163B0}" destId="{80747F69-60D1-4A8F-B2E6-2572DD594446}" srcOrd="0" destOrd="0" presId="urn:microsoft.com/office/officeart/2018/5/layout/IconCircleLabelList"/>
    <dgm:cxn modelId="{0E1B07B6-69B5-4661-97F3-F38134AD0AC4}" type="presOf" srcId="{B6D79785-1E5C-4B01-8D62-B3CAF123ACDF}" destId="{6EBF9D00-88B5-4A6F-B58E-D2F6021AD520}" srcOrd="0" destOrd="0" presId="urn:microsoft.com/office/officeart/2018/5/layout/IconCircleLabelList"/>
    <dgm:cxn modelId="{CC5C1DC1-AE23-4D1E-BB7D-F5B53E807CC8}" type="presOf" srcId="{016140AE-237F-400D-9B79-32769DF58C2D}" destId="{38E24C66-2357-49EC-B963-93BB7397E9AE}" srcOrd="0" destOrd="0" presId="urn:microsoft.com/office/officeart/2018/5/layout/IconCircleLabelList"/>
    <dgm:cxn modelId="{C7AF42C3-14B0-40F3-A67C-3B4AE9184AE6}" srcId="{C9D5960A-A2AB-47EC-8D21-37B42D1B98A5}" destId="{B6D79785-1E5C-4B01-8D62-B3CAF123ACDF}" srcOrd="1" destOrd="0" parTransId="{A948FAFF-16A5-4DBE-B69F-A72035C54281}" sibTransId="{A85A92C5-3B97-47A3-A0EF-1E43223BA0DC}"/>
    <dgm:cxn modelId="{AF7640E2-297D-41CC-9CF6-E47BFF7932B3}" srcId="{C9D5960A-A2AB-47EC-8D21-37B42D1B98A5}" destId="{016140AE-237F-400D-9B79-32769DF58C2D}" srcOrd="2" destOrd="0" parTransId="{F0A0F134-97D4-4EFF-84BE-DD5CF6EFC4F6}" sibTransId="{63AF4AC2-755E-4188-9536-454D0064221B}"/>
    <dgm:cxn modelId="{BBE77209-2735-40AB-B425-50A3BAB598FB}" type="presParOf" srcId="{D50D3B02-BC77-4B38-A09B-02CF8D379E1B}" destId="{8E05C557-E393-4CAB-89F6-F87116DBA61B}" srcOrd="0" destOrd="0" presId="urn:microsoft.com/office/officeart/2018/5/layout/IconCircleLabelList"/>
    <dgm:cxn modelId="{E3C063BE-D202-488E-8480-7B88831D44A3}" type="presParOf" srcId="{8E05C557-E393-4CAB-89F6-F87116DBA61B}" destId="{3CC0E9F4-FB77-4222-B938-8B81D45E5468}" srcOrd="0" destOrd="0" presId="urn:microsoft.com/office/officeart/2018/5/layout/IconCircleLabelList"/>
    <dgm:cxn modelId="{99A7B8C1-82A6-4D80-B412-111F8C87AA72}" type="presParOf" srcId="{8E05C557-E393-4CAB-89F6-F87116DBA61B}" destId="{CE1211B2-44DE-4749-91DB-EE0793C0BAC7}" srcOrd="1" destOrd="0" presId="urn:microsoft.com/office/officeart/2018/5/layout/IconCircleLabelList"/>
    <dgm:cxn modelId="{578E43C4-F450-4F79-9DF8-3F51E018AA73}" type="presParOf" srcId="{8E05C557-E393-4CAB-89F6-F87116DBA61B}" destId="{5BB56C23-8F74-486D-9D5F-A16975B55666}" srcOrd="2" destOrd="0" presId="urn:microsoft.com/office/officeart/2018/5/layout/IconCircleLabelList"/>
    <dgm:cxn modelId="{AF4454D6-1432-408A-B217-DBDB8280669A}" type="presParOf" srcId="{8E05C557-E393-4CAB-89F6-F87116DBA61B}" destId="{7A8AAF4D-4623-41B1-A5EF-482414B5CBAF}" srcOrd="3" destOrd="0" presId="urn:microsoft.com/office/officeart/2018/5/layout/IconCircleLabelList"/>
    <dgm:cxn modelId="{C05A18E2-F3F3-498B-9910-DF62033D78D1}" type="presParOf" srcId="{D50D3B02-BC77-4B38-A09B-02CF8D379E1B}" destId="{C29B0C00-B35F-49BF-A21F-D4DE10952C48}" srcOrd="1" destOrd="0" presId="urn:microsoft.com/office/officeart/2018/5/layout/IconCircleLabelList"/>
    <dgm:cxn modelId="{6BF6EAA0-5E5E-4F87-BE68-50D42C529CDC}" type="presParOf" srcId="{D50D3B02-BC77-4B38-A09B-02CF8D379E1B}" destId="{CB22C53D-F42E-4277-9458-57B451ED8435}" srcOrd="2" destOrd="0" presId="urn:microsoft.com/office/officeart/2018/5/layout/IconCircleLabelList"/>
    <dgm:cxn modelId="{BEB70D72-0321-4175-8F73-969F2E78F7A4}" type="presParOf" srcId="{CB22C53D-F42E-4277-9458-57B451ED8435}" destId="{0572FCB7-B770-4437-8FF7-5DDF31B9101A}" srcOrd="0" destOrd="0" presId="urn:microsoft.com/office/officeart/2018/5/layout/IconCircleLabelList"/>
    <dgm:cxn modelId="{A79F1A5D-1D77-417E-B4FE-46531900FAE4}" type="presParOf" srcId="{CB22C53D-F42E-4277-9458-57B451ED8435}" destId="{A1577DA5-C3AE-4FAA-B523-38743193D04C}" srcOrd="1" destOrd="0" presId="urn:microsoft.com/office/officeart/2018/5/layout/IconCircleLabelList"/>
    <dgm:cxn modelId="{76AC3C7B-1D75-4A39-84D4-08845F6776C9}" type="presParOf" srcId="{CB22C53D-F42E-4277-9458-57B451ED8435}" destId="{9E76CA25-1AED-48CC-9C36-D7C4B694BB99}" srcOrd="2" destOrd="0" presId="urn:microsoft.com/office/officeart/2018/5/layout/IconCircleLabelList"/>
    <dgm:cxn modelId="{8385093E-4D2E-4BC8-97F0-3A621AFE20AB}" type="presParOf" srcId="{CB22C53D-F42E-4277-9458-57B451ED8435}" destId="{6EBF9D00-88B5-4A6F-B58E-D2F6021AD520}" srcOrd="3" destOrd="0" presId="urn:microsoft.com/office/officeart/2018/5/layout/IconCircleLabelList"/>
    <dgm:cxn modelId="{01EB4989-C822-46C2-B556-BF97D4DC6129}" type="presParOf" srcId="{D50D3B02-BC77-4B38-A09B-02CF8D379E1B}" destId="{A2BD96B3-0BFC-4F2E-B407-580ED4C6A7ED}" srcOrd="3" destOrd="0" presId="urn:microsoft.com/office/officeart/2018/5/layout/IconCircleLabelList"/>
    <dgm:cxn modelId="{2C78AAC9-0346-4E9C-BC83-A904795934AA}" type="presParOf" srcId="{D50D3B02-BC77-4B38-A09B-02CF8D379E1B}" destId="{2DA785B3-C848-40A5-A74F-86B1B225880D}" srcOrd="4" destOrd="0" presId="urn:microsoft.com/office/officeart/2018/5/layout/IconCircleLabelList"/>
    <dgm:cxn modelId="{177CBBE1-D9AB-47CA-A050-7735C36976FE}" type="presParOf" srcId="{2DA785B3-C848-40A5-A74F-86B1B225880D}" destId="{747A3815-BAA0-49DE-A3DD-4F0C9741C3C1}" srcOrd="0" destOrd="0" presId="urn:microsoft.com/office/officeart/2018/5/layout/IconCircleLabelList"/>
    <dgm:cxn modelId="{235E003C-ABFA-40BE-95FF-351258AD1A05}" type="presParOf" srcId="{2DA785B3-C848-40A5-A74F-86B1B225880D}" destId="{3DE4F788-6261-4470-8F7A-09A0D4B6E437}" srcOrd="1" destOrd="0" presId="urn:microsoft.com/office/officeart/2018/5/layout/IconCircleLabelList"/>
    <dgm:cxn modelId="{1A7EB5B6-A3AC-41E3-B41B-D8534574E757}" type="presParOf" srcId="{2DA785B3-C848-40A5-A74F-86B1B225880D}" destId="{B245FC06-27AF-482D-8FB8-7F5B6D729B56}" srcOrd="2" destOrd="0" presId="urn:microsoft.com/office/officeart/2018/5/layout/IconCircleLabelList"/>
    <dgm:cxn modelId="{2395C03E-156D-4B51-BD23-F00D8D7DCF20}" type="presParOf" srcId="{2DA785B3-C848-40A5-A74F-86B1B225880D}" destId="{38E24C66-2357-49EC-B963-93BB7397E9AE}" srcOrd="3" destOrd="0" presId="urn:microsoft.com/office/officeart/2018/5/layout/IconCircleLabelList"/>
    <dgm:cxn modelId="{B2DF3B29-1ED8-4016-8CCE-1E1A366820CE}" type="presParOf" srcId="{D50D3B02-BC77-4B38-A09B-02CF8D379E1B}" destId="{692F685C-A963-4B9F-A7E0-5077319DB149}" srcOrd="5" destOrd="0" presId="urn:microsoft.com/office/officeart/2018/5/layout/IconCircleLabelList"/>
    <dgm:cxn modelId="{B87F1512-7689-4805-A4F2-D3CA6DC47EEE}" type="presParOf" srcId="{D50D3B02-BC77-4B38-A09B-02CF8D379E1B}" destId="{27E95119-954E-4300-BFEE-F12AA316B9FB}" srcOrd="6" destOrd="0" presId="urn:microsoft.com/office/officeart/2018/5/layout/IconCircleLabelList"/>
    <dgm:cxn modelId="{3584E786-8F17-49AE-BEEC-26564B70F39D}" type="presParOf" srcId="{27E95119-954E-4300-BFEE-F12AA316B9FB}" destId="{EA7198D3-09D8-4FC2-9F1D-6CECAEBF6AD4}" srcOrd="0" destOrd="0" presId="urn:microsoft.com/office/officeart/2018/5/layout/IconCircleLabelList"/>
    <dgm:cxn modelId="{C04BD83A-08E2-4375-A9F1-8D0442A753F0}" type="presParOf" srcId="{27E95119-954E-4300-BFEE-F12AA316B9FB}" destId="{959C770F-DB2C-4050-97BD-35D792BE1AE7}" srcOrd="1" destOrd="0" presId="urn:microsoft.com/office/officeart/2018/5/layout/IconCircleLabelList"/>
    <dgm:cxn modelId="{218801A2-CF45-41DD-9FC5-B119237C60C0}" type="presParOf" srcId="{27E95119-954E-4300-BFEE-F12AA316B9FB}" destId="{873D7B47-BF2E-45A7-9DFD-B15AFF67689D}" srcOrd="2" destOrd="0" presId="urn:microsoft.com/office/officeart/2018/5/layout/IconCircleLabelList"/>
    <dgm:cxn modelId="{B8E09D58-51B7-4B2E-9FD4-9E8DC000484C}" type="presParOf" srcId="{27E95119-954E-4300-BFEE-F12AA316B9FB}" destId="{80747F69-60D1-4A8F-B2E6-2572DD594446}" srcOrd="3" destOrd="0" presId="urn:microsoft.com/office/officeart/2018/5/layout/IconCircle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D1D43F-A9CD-4546-9CBD-4C4E9007482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B28D046-34A6-4B40-80FA-2A8E3D2C707F}">
      <dgm:prSet custT="1"/>
      <dgm:spPr/>
      <dgm:t>
        <a:bodyPr/>
        <a:lstStyle/>
        <a:p>
          <a:pPr>
            <a:lnSpc>
              <a:spcPct val="100000"/>
            </a:lnSpc>
          </a:pPr>
          <a:r>
            <a:rPr lang="en-US" sz="3600" dirty="0"/>
            <a:t>Planned to support two cohort, each 9 students, total 18 students, for up to 4 years</a:t>
          </a:r>
        </a:p>
      </dgm:t>
    </dgm:pt>
    <dgm:pt modelId="{BCDD6D50-11F7-480B-8572-ECF9D7D8D617}" type="sibTrans" cxnId="{0CB8877A-B8E4-4BE7-AAB0-C1C408B9B085}">
      <dgm:prSet/>
      <dgm:spPr/>
      <dgm:t>
        <a:bodyPr/>
        <a:lstStyle/>
        <a:p>
          <a:endParaRPr lang="en-US"/>
        </a:p>
      </dgm:t>
    </dgm:pt>
    <dgm:pt modelId="{E1AE1066-B5B2-4F39-815B-57C7C436E529}" type="parTrans" cxnId="{0CB8877A-B8E4-4BE7-AAB0-C1C408B9B085}">
      <dgm:prSet/>
      <dgm:spPr/>
      <dgm:t>
        <a:bodyPr/>
        <a:lstStyle/>
        <a:p>
          <a:endParaRPr lang="en-US"/>
        </a:p>
      </dgm:t>
    </dgm:pt>
    <dgm:pt modelId="{1D9F599F-24B1-41E1-A19C-35B269091B3E}">
      <dgm:prSet custT="1"/>
      <dgm:spPr/>
      <dgm:t>
        <a:bodyPr/>
        <a:lstStyle/>
        <a:p>
          <a:pPr marL="0" lvl="0" indent="0" algn="l" defTabSz="1600200">
            <a:lnSpc>
              <a:spcPct val="100000"/>
            </a:lnSpc>
            <a:spcBef>
              <a:spcPct val="0"/>
            </a:spcBef>
            <a:spcAft>
              <a:spcPct val="35000"/>
            </a:spcAft>
            <a:buNone/>
          </a:pPr>
          <a:r>
            <a:rPr lang="en-US" sz="3600" kern="1200" dirty="0">
              <a:solidFill>
                <a:prstClr val="black">
                  <a:hueOff val="0"/>
                  <a:satOff val="0"/>
                  <a:lumOff val="0"/>
                  <a:alphaOff val="0"/>
                </a:prstClr>
              </a:solidFill>
              <a:latin typeface="Calibri"/>
              <a:ea typeface="+mn-ea"/>
              <a:cs typeface="+mn-cs"/>
            </a:rPr>
            <a:t>Actual support: total 26 students, with three cohorts, 2018, 2019 and 2020</a:t>
          </a:r>
        </a:p>
      </dgm:t>
    </dgm:pt>
    <dgm:pt modelId="{CD41E3DA-5384-4B8F-8B30-5D6A6666A992}" type="sibTrans" cxnId="{5CAC2426-5769-4297-8CBD-02229E1CA906}">
      <dgm:prSet/>
      <dgm:spPr/>
      <dgm:t>
        <a:bodyPr/>
        <a:lstStyle/>
        <a:p>
          <a:endParaRPr lang="en-US"/>
        </a:p>
      </dgm:t>
    </dgm:pt>
    <dgm:pt modelId="{155C410E-E11C-4274-90F6-5D992AA16698}" type="parTrans" cxnId="{5CAC2426-5769-4297-8CBD-02229E1CA906}">
      <dgm:prSet/>
      <dgm:spPr/>
      <dgm:t>
        <a:bodyPr/>
        <a:lstStyle/>
        <a:p>
          <a:endParaRPr lang="en-US"/>
        </a:p>
      </dgm:t>
    </dgm:pt>
    <dgm:pt modelId="{51418F0E-9E5A-41A5-8138-EBB312877263}">
      <dgm:prSet custT="1"/>
      <dgm:spPr/>
      <dgm:t>
        <a:bodyPr/>
        <a:lstStyle/>
        <a:p>
          <a:pPr>
            <a:lnSpc>
              <a:spcPct val="100000"/>
            </a:lnSpc>
          </a:pPr>
          <a:r>
            <a:rPr lang="en-US" sz="3600" dirty="0"/>
            <a:t>6 student graduate early and are currently work</a:t>
          </a:r>
          <a:r>
            <a:rPr lang="en-US" altLang="zh-CN" sz="3600" dirty="0"/>
            <a:t>ing</a:t>
          </a:r>
          <a:r>
            <a:rPr lang="en-US" sz="3600" dirty="0"/>
            <a:t> in the cybersecurity field. </a:t>
          </a:r>
        </a:p>
      </dgm:t>
    </dgm:pt>
    <dgm:pt modelId="{9FFCDFFD-CE01-4BBE-8C23-E9260F692E4C}" type="sibTrans" cxnId="{DE749A94-71DB-4E51-9A2B-9379593ED597}">
      <dgm:prSet/>
      <dgm:spPr/>
      <dgm:t>
        <a:bodyPr/>
        <a:lstStyle/>
        <a:p>
          <a:endParaRPr lang="en-US"/>
        </a:p>
      </dgm:t>
    </dgm:pt>
    <dgm:pt modelId="{95E468E7-4C42-40F1-B27F-66A92BF49D0E}" type="parTrans" cxnId="{DE749A94-71DB-4E51-9A2B-9379593ED597}">
      <dgm:prSet/>
      <dgm:spPr/>
      <dgm:t>
        <a:bodyPr/>
        <a:lstStyle/>
        <a:p>
          <a:endParaRPr lang="en-US"/>
        </a:p>
      </dgm:t>
    </dgm:pt>
    <dgm:pt modelId="{14EB849B-0B02-48F9-9F6A-2D6255414D40}" type="pres">
      <dgm:prSet presAssocID="{A3D1D43F-A9CD-4546-9CBD-4C4E90074824}" presName="root" presStyleCnt="0">
        <dgm:presLayoutVars>
          <dgm:dir/>
          <dgm:resizeHandles val="exact"/>
        </dgm:presLayoutVars>
      </dgm:prSet>
      <dgm:spPr/>
    </dgm:pt>
    <dgm:pt modelId="{30011886-E272-4B78-9CC4-252733C519C0}" type="pres">
      <dgm:prSet presAssocID="{7B28D046-34A6-4B40-80FA-2A8E3D2C707F}" presName="compNode" presStyleCnt="0"/>
      <dgm:spPr/>
    </dgm:pt>
    <dgm:pt modelId="{8B87A5C4-2535-456A-8A1E-59AB9BFDA714}" type="pres">
      <dgm:prSet presAssocID="{7B28D046-34A6-4B40-80FA-2A8E3D2C707F}" presName="bgRect" presStyleLbl="bgShp" presStyleIdx="0" presStyleCnt="3"/>
      <dgm:spPr/>
    </dgm:pt>
    <dgm:pt modelId="{D32D27E9-826B-457C-BAAB-CA50064102A6}" type="pres">
      <dgm:prSet presAssocID="{7B28D046-34A6-4B40-80FA-2A8E3D2C707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of People"/>
        </a:ext>
      </dgm:extLst>
    </dgm:pt>
    <dgm:pt modelId="{62015066-3D98-4656-9127-C1C8FC5AAEF4}" type="pres">
      <dgm:prSet presAssocID="{7B28D046-34A6-4B40-80FA-2A8E3D2C707F}" presName="spaceRect" presStyleCnt="0"/>
      <dgm:spPr/>
    </dgm:pt>
    <dgm:pt modelId="{11F6D84E-3FFD-4294-8C02-71B2E250A62C}" type="pres">
      <dgm:prSet presAssocID="{7B28D046-34A6-4B40-80FA-2A8E3D2C707F}" presName="parTx" presStyleLbl="revTx" presStyleIdx="0" presStyleCnt="3">
        <dgm:presLayoutVars>
          <dgm:chMax val="0"/>
          <dgm:chPref val="0"/>
        </dgm:presLayoutVars>
      </dgm:prSet>
      <dgm:spPr/>
    </dgm:pt>
    <dgm:pt modelId="{29D8557A-5CF8-4DB9-BFD6-3CF99E17E94E}" type="pres">
      <dgm:prSet presAssocID="{BCDD6D50-11F7-480B-8572-ECF9D7D8D617}" presName="sibTrans" presStyleCnt="0"/>
      <dgm:spPr/>
    </dgm:pt>
    <dgm:pt modelId="{6C510F4E-7F76-42D8-B298-E6613C438058}" type="pres">
      <dgm:prSet presAssocID="{1D9F599F-24B1-41E1-A19C-35B269091B3E}" presName="compNode" presStyleCnt="0"/>
      <dgm:spPr/>
    </dgm:pt>
    <dgm:pt modelId="{6C978C42-CE79-408D-8260-A20743A8A2E2}" type="pres">
      <dgm:prSet presAssocID="{1D9F599F-24B1-41E1-A19C-35B269091B3E}" presName="bgRect" presStyleLbl="bgShp" presStyleIdx="1" presStyleCnt="3"/>
      <dgm:spPr/>
    </dgm:pt>
    <dgm:pt modelId="{C59AA6AC-4CF1-4682-9C36-C893466E5555}" type="pres">
      <dgm:prSet presAssocID="{1D9F599F-24B1-41E1-A19C-35B269091B3E}"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Schoolhouse with solid fill"/>
        </a:ext>
      </dgm:extLst>
    </dgm:pt>
    <dgm:pt modelId="{BE34B971-FAF3-4E55-B9E9-38286F0957B3}" type="pres">
      <dgm:prSet presAssocID="{1D9F599F-24B1-41E1-A19C-35B269091B3E}" presName="spaceRect" presStyleCnt="0"/>
      <dgm:spPr/>
    </dgm:pt>
    <dgm:pt modelId="{15BC6D5A-0BF5-41D3-8430-F166A4A1C7A0}" type="pres">
      <dgm:prSet presAssocID="{1D9F599F-24B1-41E1-A19C-35B269091B3E}" presName="parTx" presStyleLbl="revTx" presStyleIdx="1" presStyleCnt="3">
        <dgm:presLayoutVars>
          <dgm:chMax val="0"/>
          <dgm:chPref val="0"/>
        </dgm:presLayoutVars>
      </dgm:prSet>
      <dgm:spPr/>
    </dgm:pt>
    <dgm:pt modelId="{00C7F720-E856-487B-B1E2-5D2790323FDB}" type="pres">
      <dgm:prSet presAssocID="{CD41E3DA-5384-4B8F-8B30-5D6A6666A992}" presName="sibTrans" presStyleCnt="0"/>
      <dgm:spPr/>
    </dgm:pt>
    <dgm:pt modelId="{F73AE81A-F11F-43CD-AD4C-9E071DE3F16D}" type="pres">
      <dgm:prSet presAssocID="{51418F0E-9E5A-41A5-8138-EBB312877263}" presName="compNode" presStyleCnt="0"/>
      <dgm:spPr/>
    </dgm:pt>
    <dgm:pt modelId="{9C888747-3902-40B7-A3CD-8A4F43630E3F}" type="pres">
      <dgm:prSet presAssocID="{51418F0E-9E5A-41A5-8138-EBB312877263}" presName="bgRect" presStyleLbl="bgShp" presStyleIdx="2" presStyleCnt="3"/>
      <dgm:spPr/>
    </dgm:pt>
    <dgm:pt modelId="{5A5B9B29-9085-4245-85EA-46EC3D469C41}" type="pres">
      <dgm:prSet presAssocID="{51418F0E-9E5A-41A5-8138-EBB31287726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Diploma roll with solid fill"/>
        </a:ext>
      </dgm:extLst>
    </dgm:pt>
    <dgm:pt modelId="{2C2965C6-975C-445B-9587-0C2E038D205F}" type="pres">
      <dgm:prSet presAssocID="{51418F0E-9E5A-41A5-8138-EBB312877263}" presName="spaceRect" presStyleCnt="0"/>
      <dgm:spPr/>
    </dgm:pt>
    <dgm:pt modelId="{4F724162-A737-4ACF-9D96-AB995CEC4550}" type="pres">
      <dgm:prSet presAssocID="{51418F0E-9E5A-41A5-8138-EBB312877263}" presName="parTx" presStyleLbl="revTx" presStyleIdx="2" presStyleCnt="3">
        <dgm:presLayoutVars>
          <dgm:chMax val="0"/>
          <dgm:chPref val="0"/>
        </dgm:presLayoutVars>
      </dgm:prSet>
      <dgm:spPr/>
    </dgm:pt>
  </dgm:ptLst>
  <dgm:cxnLst>
    <dgm:cxn modelId="{5CAC2426-5769-4297-8CBD-02229E1CA906}" srcId="{A3D1D43F-A9CD-4546-9CBD-4C4E90074824}" destId="{1D9F599F-24B1-41E1-A19C-35B269091B3E}" srcOrd="1" destOrd="0" parTransId="{155C410E-E11C-4274-90F6-5D992AA16698}" sibTransId="{CD41E3DA-5384-4B8F-8B30-5D6A6666A992}"/>
    <dgm:cxn modelId="{47392B73-CB22-4F86-BBF2-5B5454E963BC}" type="presOf" srcId="{1D9F599F-24B1-41E1-A19C-35B269091B3E}" destId="{15BC6D5A-0BF5-41D3-8430-F166A4A1C7A0}" srcOrd="0" destOrd="0" presId="urn:microsoft.com/office/officeart/2018/2/layout/IconVerticalSolidList"/>
    <dgm:cxn modelId="{AB8EB973-5419-4B3A-ADFC-F76874E3DC0B}" type="presOf" srcId="{51418F0E-9E5A-41A5-8138-EBB312877263}" destId="{4F724162-A737-4ACF-9D96-AB995CEC4550}" srcOrd="0" destOrd="0" presId="urn:microsoft.com/office/officeart/2018/2/layout/IconVerticalSolidList"/>
    <dgm:cxn modelId="{0CB8877A-B8E4-4BE7-AAB0-C1C408B9B085}" srcId="{A3D1D43F-A9CD-4546-9CBD-4C4E90074824}" destId="{7B28D046-34A6-4B40-80FA-2A8E3D2C707F}" srcOrd="0" destOrd="0" parTransId="{E1AE1066-B5B2-4F39-815B-57C7C436E529}" sibTransId="{BCDD6D50-11F7-480B-8572-ECF9D7D8D617}"/>
    <dgm:cxn modelId="{DE749A94-71DB-4E51-9A2B-9379593ED597}" srcId="{A3D1D43F-A9CD-4546-9CBD-4C4E90074824}" destId="{51418F0E-9E5A-41A5-8138-EBB312877263}" srcOrd="2" destOrd="0" parTransId="{95E468E7-4C42-40F1-B27F-66A92BF49D0E}" sibTransId="{9FFCDFFD-CE01-4BBE-8C23-E9260F692E4C}"/>
    <dgm:cxn modelId="{DFE51DB4-96BF-4485-AD9F-4E15D6F02E6B}" type="presOf" srcId="{A3D1D43F-A9CD-4546-9CBD-4C4E90074824}" destId="{14EB849B-0B02-48F9-9F6A-2D6255414D40}" srcOrd="0" destOrd="0" presId="urn:microsoft.com/office/officeart/2018/2/layout/IconVerticalSolidList"/>
    <dgm:cxn modelId="{59C45FBB-16FE-4842-9CFD-344AD921E7AA}" type="presOf" srcId="{7B28D046-34A6-4B40-80FA-2A8E3D2C707F}" destId="{11F6D84E-3FFD-4294-8C02-71B2E250A62C}" srcOrd="0" destOrd="0" presId="urn:microsoft.com/office/officeart/2018/2/layout/IconVerticalSolidList"/>
    <dgm:cxn modelId="{1BC34D2E-F299-4E14-ABC9-5B2D03ADD9F3}" type="presParOf" srcId="{14EB849B-0B02-48F9-9F6A-2D6255414D40}" destId="{30011886-E272-4B78-9CC4-252733C519C0}" srcOrd="0" destOrd="0" presId="urn:microsoft.com/office/officeart/2018/2/layout/IconVerticalSolidList"/>
    <dgm:cxn modelId="{B54B8572-95D8-43B0-9C0B-E7048F54EF25}" type="presParOf" srcId="{30011886-E272-4B78-9CC4-252733C519C0}" destId="{8B87A5C4-2535-456A-8A1E-59AB9BFDA714}" srcOrd="0" destOrd="0" presId="urn:microsoft.com/office/officeart/2018/2/layout/IconVerticalSolidList"/>
    <dgm:cxn modelId="{F3FD4934-CDA7-4795-856B-0D12D05F84AC}" type="presParOf" srcId="{30011886-E272-4B78-9CC4-252733C519C0}" destId="{D32D27E9-826B-457C-BAAB-CA50064102A6}" srcOrd="1" destOrd="0" presId="urn:microsoft.com/office/officeart/2018/2/layout/IconVerticalSolidList"/>
    <dgm:cxn modelId="{886C3099-8130-4A24-A0EC-355F256589E4}" type="presParOf" srcId="{30011886-E272-4B78-9CC4-252733C519C0}" destId="{62015066-3D98-4656-9127-C1C8FC5AAEF4}" srcOrd="2" destOrd="0" presId="urn:microsoft.com/office/officeart/2018/2/layout/IconVerticalSolidList"/>
    <dgm:cxn modelId="{033E616E-2BF5-400B-9E5A-41974B0A1A69}" type="presParOf" srcId="{30011886-E272-4B78-9CC4-252733C519C0}" destId="{11F6D84E-3FFD-4294-8C02-71B2E250A62C}" srcOrd="3" destOrd="0" presId="urn:microsoft.com/office/officeart/2018/2/layout/IconVerticalSolidList"/>
    <dgm:cxn modelId="{E8EC342D-64F8-42D5-A692-09E1542FC47A}" type="presParOf" srcId="{14EB849B-0B02-48F9-9F6A-2D6255414D40}" destId="{29D8557A-5CF8-4DB9-BFD6-3CF99E17E94E}" srcOrd="1" destOrd="0" presId="urn:microsoft.com/office/officeart/2018/2/layout/IconVerticalSolidList"/>
    <dgm:cxn modelId="{82DFF6DC-7A33-4D2B-BD7F-944E9615BBB5}" type="presParOf" srcId="{14EB849B-0B02-48F9-9F6A-2D6255414D40}" destId="{6C510F4E-7F76-42D8-B298-E6613C438058}" srcOrd="2" destOrd="0" presId="urn:microsoft.com/office/officeart/2018/2/layout/IconVerticalSolidList"/>
    <dgm:cxn modelId="{5C318DED-1441-4DE6-B529-FACE55B0C938}" type="presParOf" srcId="{6C510F4E-7F76-42D8-B298-E6613C438058}" destId="{6C978C42-CE79-408D-8260-A20743A8A2E2}" srcOrd="0" destOrd="0" presId="urn:microsoft.com/office/officeart/2018/2/layout/IconVerticalSolidList"/>
    <dgm:cxn modelId="{3F2A4B82-34BB-4C5F-AE07-05D8B2611010}" type="presParOf" srcId="{6C510F4E-7F76-42D8-B298-E6613C438058}" destId="{C59AA6AC-4CF1-4682-9C36-C893466E5555}" srcOrd="1" destOrd="0" presId="urn:microsoft.com/office/officeart/2018/2/layout/IconVerticalSolidList"/>
    <dgm:cxn modelId="{FFE315DE-6CC9-4E21-BDC4-35EB582BB2DA}" type="presParOf" srcId="{6C510F4E-7F76-42D8-B298-E6613C438058}" destId="{BE34B971-FAF3-4E55-B9E9-38286F0957B3}" srcOrd="2" destOrd="0" presId="urn:microsoft.com/office/officeart/2018/2/layout/IconVerticalSolidList"/>
    <dgm:cxn modelId="{168BF158-1990-4C8D-90F3-0704BDD9C55F}" type="presParOf" srcId="{6C510F4E-7F76-42D8-B298-E6613C438058}" destId="{15BC6D5A-0BF5-41D3-8430-F166A4A1C7A0}" srcOrd="3" destOrd="0" presId="urn:microsoft.com/office/officeart/2018/2/layout/IconVerticalSolidList"/>
    <dgm:cxn modelId="{61EEC118-16CA-4DA0-A9A3-29851210F066}" type="presParOf" srcId="{14EB849B-0B02-48F9-9F6A-2D6255414D40}" destId="{00C7F720-E856-487B-B1E2-5D2790323FDB}" srcOrd="3" destOrd="0" presId="urn:microsoft.com/office/officeart/2018/2/layout/IconVerticalSolidList"/>
    <dgm:cxn modelId="{3FF3E982-A2EE-4F3F-A11C-447895B6C809}" type="presParOf" srcId="{14EB849B-0B02-48F9-9F6A-2D6255414D40}" destId="{F73AE81A-F11F-43CD-AD4C-9E071DE3F16D}" srcOrd="4" destOrd="0" presId="urn:microsoft.com/office/officeart/2018/2/layout/IconVerticalSolidList"/>
    <dgm:cxn modelId="{115702AF-7B9B-4E74-8489-9CB916AA6110}" type="presParOf" srcId="{F73AE81A-F11F-43CD-AD4C-9E071DE3F16D}" destId="{9C888747-3902-40B7-A3CD-8A4F43630E3F}" srcOrd="0" destOrd="0" presId="urn:microsoft.com/office/officeart/2018/2/layout/IconVerticalSolidList"/>
    <dgm:cxn modelId="{0DFB1B39-1DCD-4F78-9BAA-E66C26749893}" type="presParOf" srcId="{F73AE81A-F11F-43CD-AD4C-9E071DE3F16D}" destId="{5A5B9B29-9085-4245-85EA-46EC3D469C41}" srcOrd="1" destOrd="0" presId="urn:microsoft.com/office/officeart/2018/2/layout/IconVerticalSolidList"/>
    <dgm:cxn modelId="{BCA8E2E7-91FF-4B48-8DA3-4EBE839DD7A3}" type="presParOf" srcId="{F73AE81A-F11F-43CD-AD4C-9E071DE3F16D}" destId="{2C2965C6-975C-445B-9587-0C2E038D205F}" srcOrd="2" destOrd="0" presId="urn:microsoft.com/office/officeart/2018/2/layout/IconVerticalSolidList"/>
    <dgm:cxn modelId="{A4BAAB6F-B6FC-4946-95C5-1DAFF3E75479}" type="presParOf" srcId="{F73AE81A-F11F-43CD-AD4C-9E071DE3F16D}" destId="{4F724162-A737-4ACF-9D96-AB995CEC4550}" srcOrd="3" destOrd="0" presId="urn:microsoft.com/office/officeart/2018/2/layout/IconVerticalSoli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C0E9F4-FB77-4222-B938-8B81D45E5468}">
      <dsp:nvSpPr>
        <dsp:cNvPr id="0" name=""/>
        <dsp:cNvSpPr/>
      </dsp:nvSpPr>
      <dsp:spPr>
        <a:xfrm>
          <a:off x="1624809" y="578229"/>
          <a:ext cx="1928492" cy="192849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1211B2-44DE-4749-91DB-EE0793C0BAC7}">
      <dsp:nvSpPr>
        <dsp:cNvPr id="0" name=""/>
        <dsp:cNvSpPr/>
      </dsp:nvSpPr>
      <dsp:spPr>
        <a:xfrm>
          <a:off x="2035799" y="989219"/>
          <a:ext cx="1106511" cy="11065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8AAF4D-4623-41B1-A5EF-482414B5CBAF}">
      <dsp:nvSpPr>
        <dsp:cNvPr id="0" name=""/>
        <dsp:cNvSpPr/>
      </dsp:nvSpPr>
      <dsp:spPr>
        <a:xfrm>
          <a:off x="1008324" y="3107399"/>
          <a:ext cx="3161462"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US" sz="3200" kern="1200" cap="none" baseline="0" dirty="0"/>
            <a:t>Peer tutoring and faculty mentoring, </a:t>
          </a:r>
        </a:p>
      </dsp:txBody>
      <dsp:txXfrm>
        <a:off x="1008324" y="3107399"/>
        <a:ext cx="3161462" cy="900000"/>
      </dsp:txXfrm>
    </dsp:sp>
    <dsp:sp modelId="{0572FCB7-B770-4437-8FF7-5DDF31B9101A}">
      <dsp:nvSpPr>
        <dsp:cNvPr id="0" name=""/>
        <dsp:cNvSpPr/>
      </dsp:nvSpPr>
      <dsp:spPr>
        <a:xfrm>
          <a:off x="5339527" y="578229"/>
          <a:ext cx="1928492" cy="192849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577DA5-C3AE-4FAA-B523-38743193D04C}">
      <dsp:nvSpPr>
        <dsp:cNvPr id="0" name=""/>
        <dsp:cNvSpPr/>
      </dsp:nvSpPr>
      <dsp:spPr>
        <a:xfrm>
          <a:off x="5750517" y="989219"/>
          <a:ext cx="1106511" cy="11065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BF9D00-88B5-4A6F-B58E-D2F6021AD520}">
      <dsp:nvSpPr>
        <dsp:cNvPr id="0" name=""/>
        <dsp:cNvSpPr/>
      </dsp:nvSpPr>
      <dsp:spPr>
        <a:xfrm>
          <a:off x="4723042" y="3107399"/>
          <a:ext cx="3161462"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3200" kern="1200" cap="none" baseline="0" dirty="0">
              <a:solidFill>
                <a:prstClr val="black">
                  <a:hueOff val="0"/>
                  <a:satOff val="0"/>
                  <a:lumOff val="0"/>
                  <a:alphaOff val="0"/>
                </a:prstClr>
              </a:solidFill>
              <a:latin typeface="Calibri"/>
              <a:ea typeface="+mn-ea"/>
              <a:cs typeface="+mn-cs"/>
            </a:rPr>
            <a:t>Cyber Learning Community (LC) </a:t>
          </a:r>
        </a:p>
      </dsp:txBody>
      <dsp:txXfrm>
        <a:off x="4723042" y="3107399"/>
        <a:ext cx="3161462" cy="900000"/>
      </dsp:txXfrm>
    </dsp:sp>
    <dsp:sp modelId="{747A3815-BAA0-49DE-A3DD-4F0C9741C3C1}">
      <dsp:nvSpPr>
        <dsp:cNvPr id="0" name=""/>
        <dsp:cNvSpPr/>
      </dsp:nvSpPr>
      <dsp:spPr>
        <a:xfrm>
          <a:off x="9054246" y="578229"/>
          <a:ext cx="1928492" cy="192849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E4F788-6261-4470-8F7A-09A0D4B6E437}">
      <dsp:nvSpPr>
        <dsp:cNvPr id="0" name=""/>
        <dsp:cNvSpPr/>
      </dsp:nvSpPr>
      <dsp:spPr>
        <a:xfrm>
          <a:off x="9465236" y="989219"/>
          <a:ext cx="1106511" cy="11065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E24C66-2357-49EC-B963-93BB7397E9AE}">
      <dsp:nvSpPr>
        <dsp:cNvPr id="0" name=""/>
        <dsp:cNvSpPr/>
      </dsp:nvSpPr>
      <dsp:spPr>
        <a:xfrm>
          <a:off x="8437760" y="3107399"/>
          <a:ext cx="3161462"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3200" kern="1200" cap="none" baseline="0" dirty="0">
              <a:solidFill>
                <a:prstClr val="black">
                  <a:hueOff val="0"/>
                  <a:satOff val="0"/>
                  <a:lumOff val="0"/>
                  <a:alphaOff val="0"/>
                </a:prstClr>
              </a:solidFill>
              <a:latin typeface="Calibri"/>
              <a:ea typeface="+mn-ea"/>
              <a:cs typeface="+mn-cs"/>
            </a:rPr>
            <a:t>Internship and summer research, </a:t>
          </a:r>
        </a:p>
      </dsp:txBody>
      <dsp:txXfrm>
        <a:off x="8437760" y="3107399"/>
        <a:ext cx="3161462" cy="900000"/>
      </dsp:txXfrm>
    </dsp:sp>
    <dsp:sp modelId="{EA7198D3-09D8-4FC2-9F1D-6CECAEBF6AD4}">
      <dsp:nvSpPr>
        <dsp:cNvPr id="0" name=""/>
        <dsp:cNvSpPr/>
      </dsp:nvSpPr>
      <dsp:spPr>
        <a:xfrm>
          <a:off x="12768964" y="578229"/>
          <a:ext cx="1928492" cy="192849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9C770F-DB2C-4050-97BD-35D792BE1AE7}">
      <dsp:nvSpPr>
        <dsp:cNvPr id="0" name=""/>
        <dsp:cNvSpPr/>
      </dsp:nvSpPr>
      <dsp:spPr>
        <a:xfrm>
          <a:off x="13179954" y="989219"/>
          <a:ext cx="1106511" cy="110651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0747F69-60D1-4A8F-B2E6-2572DD594446}">
      <dsp:nvSpPr>
        <dsp:cNvPr id="0" name=""/>
        <dsp:cNvSpPr/>
      </dsp:nvSpPr>
      <dsp:spPr>
        <a:xfrm>
          <a:off x="12152479" y="3107399"/>
          <a:ext cx="3161462"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3200" kern="1200" cap="none" baseline="0" dirty="0">
              <a:solidFill>
                <a:prstClr val="black">
                  <a:hueOff val="0"/>
                  <a:satOff val="0"/>
                  <a:lumOff val="0"/>
                  <a:alphaOff val="0"/>
                </a:prstClr>
              </a:solidFill>
              <a:latin typeface="Calibri"/>
              <a:ea typeface="+mn-ea"/>
              <a:cs typeface="+mn-cs"/>
            </a:rPr>
            <a:t>Cyber Competition Team </a:t>
          </a:r>
        </a:p>
      </dsp:txBody>
      <dsp:txXfrm>
        <a:off x="12152479" y="3107399"/>
        <a:ext cx="3161462" cy="90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87A5C4-2535-456A-8A1E-59AB9BFDA714}">
      <dsp:nvSpPr>
        <dsp:cNvPr id="0" name=""/>
        <dsp:cNvSpPr/>
      </dsp:nvSpPr>
      <dsp:spPr>
        <a:xfrm>
          <a:off x="0" y="660"/>
          <a:ext cx="15876800" cy="15454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2D27E9-826B-457C-BAAB-CA50064102A6}">
      <dsp:nvSpPr>
        <dsp:cNvPr id="0" name=""/>
        <dsp:cNvSpPr/>
      </dsp:nvSpPr>
      <dsp:spPr>
        <a:xfrm>
          <a:off x="467509" y="348394"/>
          <a:ext cx="850016" cy="8500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F6D84E-3FFD-4294-8C02-71B2E250A62C}">
      <dsp:nvSpPr>
        <dsp:cNvPr id="0" name=""/>
        <dsp:cNvSpPr/>
      </dsp:nvSpPr>
      <dsp:spPr>
        <a:xfrm>
          <a:off x="1785035" y="660"/>
          <a:ext cx="14091764" cy="1545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64" tIns="163564" rIns="163564" bIns="163564" numCol="1" spcCol="1270" anchor="ctr" anchorCtr="0">
          <a:noAutofit/>
        </a:bodyPr>
        <a:lstStyle/>
        <a:p>
          <a:pPr marL="0" lvl="0" indent="0" algn="l" defTabSz="1600200">
            <a:lnSpc>
              <a:spcPct val="100000"/>
            </a:lnSpc>
            <a:spcBef>
              <a:spcPct val="0"/>
            </a:spcBef>
            <a:spcAft>
              <a:spcPct val="35000"/>
            </a:spcAft>
            <a:buNone/>
          </a:pPr>
          <a:r>
            <a:rPr lang="en-US" sz="3600" kern="1200" dirty="0"/>
            <a:t>Planned to support two cohort, each 9 students, total 18 students, for up to 4 years</a:t>
          </a:r>
        </a:p>
      </dsp:txBody>
      <dsp:txXfrm>
        <a:off x="1785035" y="660"/>
        <a:ext cx="14091764" cy="1545485"/>
      </dsp:txXfrm>
    </dsp:sp>
    <dsp:sp modelId="{6C978C42-CE79-408D-8260-A20743A8A2E2}">
      <dsp:nvSpPr>
        <dsp:cNvPr id="0" name=""/>
        <dsp:cNvSpPr/>
      </dsp:nvSpPr>
      <dsp:spPr>
        <a:xfrm>
          <a:off x="0" y="1932517"/>
          <a:ext cx="15876800" cy="15454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9AA6AC-4CF1-4682-9C36-C893466E5555}">
      <dsp:nvSpPr>
        <dsp:cNvPr id="0" name=""/>
        <dsp:cNvSpPr/>
      </dsp:nvSpPr>
      <dsp:spPr>
        <a:xfrm>
          <a:off x="467509" y="2280251"/>
          <a:ext cx="850016" cy="85001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BC6D5A-0BF5-41D3-8430-F166A4A1C7A0}">
      <dsp:nvSpPr>
        <dsp:cNvPr id="0" name=""/>
        <dsp:cNvSpPr/>
      </dsp:nvSpPr>
      <dsp:spPr>
        <a:xfrm>
          <a:off x="1785035" y="1932517"/>
          <a:ext cx="14091764" cy="1545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64" tIns="163564" rIns="163564" bIns="163564" numCol="1" spcCol="1270" anchor="ctr" anchorCtr="0">
          <a:noAutofit/>
        </a:bodyPr>
        <a:lstStyle/>
        <a:p>
          <a:pPr marL="0" lvl="0" indent="0" algn="l" defTabSz="1600200">
            <a:lnSpc>
              <a:spcPct val="100000"/>
            </a:lnSpc>
            <a:spcBef>
              <a:spcPct val="0"/>
            </a:spcBef>
            <a:spcAft>
              <a:spcPct val="35000"/>
            </a:spcAft>
            <a:buNone/>
          </a:pPr>
          <a:r>
            <a:rPr lang="en-US" sz="3600" kern="1200" dirty="0">
              <a:solidFill>
                <a:prstClr val="black">
                  <a:hueOff val="0"/>
                  <a:satOff val="0"/>
                  <a:lumOff val="0"/>
                  <a:alphaOff val="0"/>
                </a:prstClr>
              </a:solidFill>
              <a:latin typeface="Calibri"/>
              <a:ea typeface="+mn-ea"/>
              <a:cs typeface="+mn-cs"/>
            </a:rPr>
            <a:t>Actual support: total 26 students, with three cohorts, 2018, 2019 and 2020</a:t>
          </a:r>
        </a:p>
      </dsp:txBody>
      <dsp:txXfrm>
        <a:off x="1785035" y="1932517"/>
        <a:ext cx="14091764" cy="1545485"/>
      </dsp:txXfrm>
    </dsp:sp>
    <dsp:sp modelId="{9C888747-3902-40B7-A3CD-8A4F43630E3F}">
      <dsp:nvSpPr>
        <dsp:cNvPr id="0" name=""/>
        <dsp:cNvSpPr/>
      </dsp:nvSpPr>
      <dsp:spPr>
        <a:xfrm>
          <a:off x="0" y="3864374"/>
          <a:ext cx="15876800" cy="15454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5B9B29-9085-4245-85EA-46EC3D469C41}">
      <dsp:nvSpPr>
        <dsp:cNvPr id="0" name=""/>
        <dsp:cNvSpPr/>
      </dsp:nvSpPr>
      <dsp:spPr>
        <a:xfrm>
          <a:off x="467509" y="4212108"/>
          <a:ext cx="850016" cy="8500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724162-A737-4ACF-9D96-AB995CEC4550}">
      <dsp:nvSpPr>
        <dsp:cNvPr id="0" name=""/>
        <dsp:cNvSpPr/>
      </dsp:nvSpPr>
      <dsp:spPr>
        <a:xfrm>
          <a:off x="1785035" y="3864374"/>
          <a:ext cx="14091764" cy="1545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64" tIns="163564" rIns="163564" bIns="163564" numCol="1" spcCol="1270" anchor="ctr" anchorCtr="0">
          <a:noAutofit/>
        </a:bodyPr>
        <a:lstStyle/>
        <a:p>
          <a:pPr marL="0" lvl="0" indent="0" algn="l" defTabSz="1600200">
            <a:lnSpc>
              <a:spcPct val="100000"/>
            </a:lnSpc>
            <a:spcBef>
              <a:spcPct val="0"/>
            </a:spcBef>
            <a:spcAft>
              <a:spcPct val="35000"/>
            </a:spcAft>
            <a:buNone/>
          </a:pPr>
          <a:r>
            <a:rPr lang="en-US" sz="3600" kern="1200" dirty="0"/>
            <a:t>6 student graduate early and are currently work</a:t>
          </a:r>
          <a:r>
            <a:rPr lang="en-US" altLang="zh-CN" sz="3600" kern="1200" dirty="0"/>
            <a:t>ing</a:t>
          </a:r>
          <a:r>
            <a:rPr lang="en-US" sz="3600" kern="1200" dirty="0"/>
            <a:t> in the cybersecurity field. </a:t>
          </a:r>
        </a:p>
      </dsp:txBody>
      <dsp:txXfrm>
        <a:off x="1785035" y="3864374"/>
        <a:ext cx="14091764" cy="1545485"/>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8/1/24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8/1/24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597794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41"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587165"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587166"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58339"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50400"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2914027"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914027"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914027"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2914027"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914027"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914027"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904188"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41"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587165"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587166"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58339"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50400"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2914027"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914027"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914027"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2914027"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914027"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914027"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904188"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17006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
        <p:nvSpPr>
          <p:cNvPr id="31" name="TextBox 30"/>
          <p:cNvSpPr txBox="1"/>
          <p:nvPr userDrawn="1"/>
        </p:nvSpPr>
        <p:spPr>
          <a:xfrm>
            <a:off x="14272591" y="9899374"/>
            <a:ext cx="4134679" cy="477054"/>
          </a:xfrm>
          <a:prstGeom prst="rect">
            <a:avLst/>
          </a:prstGeom>
          <a:noFill/>
        </p:spPr>
        <p:txBody>
          <a:bodyPr wrap="square" rtlCol="0">
            <a:spAutoFit/>
          </a:bodyPr>
          <a:lstStyle/>
          <a:p>
            <a:endParaRPr lang="en-US" sz="2500" dirty="0">
              <a:solidFill>
                <a:schemeClr val="accent5">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41"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587165"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587166"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58339"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50400"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2914027"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914027"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914027"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2914027"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914027"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914027"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904188"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1129219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7.wmf"/><Relationship Id="rId18" Type="http://schemas.openxmlformats.org/officeDocument/2006/relationships/image" Target="../media/image10.jpeg"/><Relationship Id="rId3" Type="http://schemas.openxmlformats.org/officeDocument/2006/relationships/theme" Target="../theme/theme1.xml"/><Relationship Id="rId7" Type="http://schemas.openxmlformats.org/officeDocument/2006/relationships/image" Target="../media/image4.png"/><Relationship Id="rId12" Type="http://schemas.openxmlformats.org/officeDocument/2006/relationships/oleObject" Target="../embeddings/oleObject3.bin"/><Relationship Id="rId17" Type="http://schemas.openxmlformats.org/officeDocument/2006/relationships/hyperlink" Target="http://www.facebook.com/pages/PosterPresentationscom/217914411419?v=app_4949752878&amp;ref=ts" TargetMode="External"/><Relationship Id="rId2" Type="http://schemas.openxmlformats.org/officeDocument/2006/relationships/slideLayout" Target="../slideLayouts/slideLayout2.xml"/><Relationship Id="rId16" Type="http://schemas.openxmlformats.org/officeDocument/2006/relationships/image" Target="../media/image9.wmf"/><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6.wmf"/><Relationship Id="rId5" Type="http://schemas.openxmlformats.org/officeDocument/2006/relationships/image" Target="../media/image2.png"/><Relationship Id="rId15" Type="http://schemas.openxmlformats.org/officeDocument/2006/relationships/oleObject" Target="../embeddings/oleObject4.bin"/><Relationship Id="rId10" Type="http://schemas.openxmlformats.org/officeDocument/2006/relationships/oleObject" Target="../embeddings/oleObject2.bin"/><Relationship Id="rId4" Type="http://schemas.openxmlformats.org/officeDocument/2006/relationships/image" Target="../media/image1.png"/><Relationship Id="rId9" Type="http://schemas.openxmlformats.org/officeDocument/2006/relationships/image" Target="../media/image5.wmf"/><Relationship Id="rId14" Type="http://schemas.openxmlformats.org/officeDocument/2006/relationships/image" Target="../media/image8.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image" Target="../media/image3.png"/><Relationship Id="rId18" Type="http://schemas.openxmlformats.org/officeDocument/2006/relationships/image" Target="../media/image6.wmf"/><Relationship Id="rId3" Type="http://schemas.openxmlformats.org/officeDocument/2006/relationships/theme" Target="../theme/theme2.xml"/><Relationship Id="rId7" Type="http://schemas.openxmlformats.org/officeDocument/2006/relationships/oleObject" Target="../embeddings/oleObject6.bin"/><Relationship Id="rId12" Type="http://schemas.openxmlformats.org/officeDocument/2006/relationships/image" Target="../media/image2.png"/><Relationship Id="rId17" Type="http://schemas.openxmlformats.org/officeDocument/2006/relationships/oleObject" Target="../embeddings/oleObject8.bin"/><Relationship Id="rId2" Type="http://schemas.openxmlformats.org/officeDocument/2006/relationships/slideLayout" Target="../slideLayouts/slideLayout4.xml"/><Relationship Id="rId16" Type="http://schemas.openxmlformats.org/officeDocument/2006/relationships/image" Target="../media/image5.wmf"/><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wmf"/><Relationship Id="rId15" Type="http://schemas.openxmlformats.org/officeDocument/2006/relationships/oleObject" Target="../embeddings/oleObject7.bin"/><Relationship Id="rId10" Type="http://schemas.openxmlformats.org/officeDocument/2006/relationships/image" Target="../media/image10.jpeg"/><Relationship Id="rId4" Type="http://schemas.openxmlformats.org/officeDocument/2006/relationships/oleObject" Target="../embeddings/oleObject5.bin"/><Relationship Id="rId9" Type="http://schemas.openxmlformats.org/officeDocument/2006/relationships/hyperlink" Target="http://www.facebook.com/pages/PosterPresentationscom/217914411419?v=app_4949752878&amp;ref=ts" TargetMode="External"/><Relationship Id="rId1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9.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3.xml"/><Relationship Id="rId16" Type="http://schemas.openxmlformats.org/officeDocument/2006/relationships/oleObject" Target="../embeddings/oleObject12.bin"/><Relationship Id="rId1" Type="http://schemas.openxmlformats.org/officeDocument/2006/relationships/slideLayout" Target="../slideLayouts/slideLayout5.xml"/><Relationship Id="rId6" Type="http://schemas.openxmlformats.org/officeDocument/2006/relationships/oleObject" Target="../embeddings/oleObject10.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8" name="Rectangle 67"/>
          <p:cNvSpPr/>
          <p:nvPr userDrawn="1"/>
        </p:nvSpPr>
        <p:spPr>
          <a:xfrm rot="10800000">
            <a:off x="0" y="31869601"/>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p:cNvSpPr/>
          <p:nvPr userDrawn="1"/>
        </p:nvSpPr>
        <p:spPr>
          <a:xfrm>
            <a:off x="922338" y="5475145"/>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39"/>
          <p:cNvSpPr/>
          <p:nvPr userDrawn="1"/>
        </p:nvSpPr>
        <p:spPr>
          <a:xfrm>
            <a:off x="11587692" y="5475142"/>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userDrawn="1"/>
        </p:nvSpPr>
        <p:spPr>
          <a:xfrm>
            <a:off x="22253046" y="5475143"/>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ounded Rectangle 63"/>
          <p:cNvSpPr/>
          <p:nvPr userDrawn="1"/>
        </p:nvSpPr>
        <p:spPr>
          <a:xfrm>
            <a:off x="32918399" y="5475144"/>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36"/>
          <p:cNvSpPr>
            <a:spLocks noChangeArrowheads="1"/>
          </p:cNvSpPr>
          <p:nvPr/>
        </p:nvSpPr>
        <p:spPr bwMode="auto">
          <a:xfrm>
            <a:off x="0" y="0"/>
            <a:ext cx="43891200" cy="4800600"/>
          </a:xfrm>
          <a:prstGeom prst="rect">
            <a:avLst/>
          </a:prstGeom>
          <a:noFill/>
          <a:ln w="9525">
            <a:no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90910"/>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4"/>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5"/>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6"/>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6"/>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7"/>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8" imgW="1828440" imgH="1117440" progId="Photoshop.Image.13">
                      <p:embed/>
                    </p:oleObj>
                  </mc:Choice>
                  <mc:Fallback>
                    <p:oleObj name="Image" r:id="rId8" imgW="1828440" imgH="1117440" progId="Photoshop.Image.13">
                      <p:embed/>
                      <p:pic>
                        <p:nvPicPr>
                          <p:cNvPr id="41" name="Object 40"/>
                          <p:cNvPicPr/>
                          <p:nvPr/>
                        </p:nvPicPr>
                        <p:blipFill>
                          <a:blip r:embed="rId9"/>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0" imgW="1828440" imgH="1117440" progId="Photoshop.Image.13">
                      <p:embed/>
                    </p:oleObj>
                  </mc:Choice>
                  <mc:Fallback>
                    <p:oleObj name="Image" r:id="rId10" imgW="1828440" imgH="1117440" progId="Photoshop.Image.13">
                      <p:embed/>
                      <p:pic>
                        <p:nvPicPr>
                          <p:cNvPr id="43" name="Object 42"/>
                          <p:cNvPicPr/>
                          <p:nvPr/>
                        </p:nvPicPr>
                        <p:blipFill>
                          <a:blip r:embed="rId11"/>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2" imgW="4571280" imgH="1688760" progId="Photoshop.Image.13">
                    <p:embed/>
                  </p:oleObj>
                </mc:Choice>
                <mc:Fallback>
                  <p:oleObj name="Image" r:id="rId12" imgW="4571280" imgH="1688760" progId="Photoshop.Image.13">
                    <p:embed/>
                    <p:pic>
                      <p:nvPicPr>
                        <p:cNvPr id="56" name="Object 55"/>
                        <p:cNvPicPr/>
                        <p:nvPr/>
                      </p:nvPicPr>
                      <p:blipFill>
                        <a:blip r:embed="rId13"/>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4"/>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5" imgW="1574280" imgH="1053720" progId="Photoshop.Image.13">
                    <p:embed/>
                  </p:oleObj>
                </mc:Choice>
                <mc:Fallback>
                  <p:oleObj name="Image" r:id="rId15" imgW="1574280" imgH="1053720" progId="Photoshop.Image.13">
                    <p:embed/>
                    <p:pic>
                      <p:nvPicPr>
                        <p:cNvPr id="58" name="Object 57"/>
                        <p:cNvPicPr/>
                        <p:nvPr/>
                      </p:nvPicPr>
                      <p:blipFill>
                        <a:blip r:embed="rId16"/>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7"/>
              </p:cNvPr>
              <p:cNvPicPr>
                <a:picLocks noChangeAspect="1" noChangeArrowheads="1"/>
              </p:cNvPicPr>
              <p:nvPr userDrawn="1"/>
            </p:nvPicPr>
            <p:blipFill>
              <a:blip r:embed="rId18"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grpSp>
      <p:sp>
        <p:nvSpPr>
          <p:cNvPr id="6" name="Rectangle 5"/>
          <p:cNvSpPr/>
          <p:nvPr userDrawn="1"/>
        </p:nvSpPr>
        <p:spPr>
          <a:xfrm>
            <a:off x="0" y="-55065"/>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userDrawn="1"/>
        </p:nvSpPr>
        <p:spPr>
          <a:xfrm>
            <a:off x="6096" y="4742487"/>
            <a:ext cx="43891200"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p:cNvSpPr txBox="1"/>
          <p:nvPr userDrawn="1"/>
        </p:nvSpPr>
        <p:spPr>
          <a:xfrm>
            <a:off x="44487207" y="31252910"/>
            <a:ext cx="7629577" cy="1399638"/>
          </a:xfrm>
          <a:prstGeom prst="rect">
            <a:avLst/>
          </a:prstGeom>
          <a:noFill/>
        </p:spPr>
        <p:txBody>
          <a:bodyPr wrap="square" lIns="65304" tIns="32651" rIns="65304" bIns="32651" rtlCol="0">
            <a:spAutoFit/>
          </a:bodyPr>
          <a:lstStyle/>
          <a:p>
            <a:pPr marL="400050" indent="-400050">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400" dirty="0">
                <a:solidFill>
                  <a:schemeClr val="bg1"/>
                </a:solidFill>
              </a:rPr>
              <a:t>2117 Fourth Street ,</a:t>
            </a:r>
            <a:r>
              <a:rPr lang="en-US" sz="2400" baseline="0" dirty="0">
                <a:solidFill>
                  <a:schemeClr val="bg1"/>
                </a:solidFill>
              </a:rPr>
              <a:t> Unit C</a:t>
            </a:r>
          </a:p>
          <a:p>
            <a:pPr marL="400050" indent="-400050">
              <a:lnSpc>
                <a:spcPts val="2600"/>
              </a:lnSpc>
            </a:pPr>
            <a:r>
              <a:rPr lang="en-US" sz="2400" baseline="0" dirty="0">
                <a:solidFill>
                  <a:schemeClr val="bg1"/>
                </a:solidFill>
              </a:rPr>
              <a:t>	Berkeley CA </a:t>
            </a:r>
            <a:r>
              <a:rPr lang="en-US" sz="2000" baseline="0" dirty="0">
                <a:solidFill>
                  <a:schemeClr val="bg1"/>
                </a:solidFill>
              </a:rPr>
              <a:t>94710</a:t>
            </a:r>
            <a:endParaRPr lang="en-US" sz="2400" baseline="0" dirty="0">
              <a:solidFill>
                <a:schemeClr val="bg1"/>
              </a:solidFill>
            </a:endParaRPr>
          </a:p>
          <a:p>
            <a:pPr marL="400050" indent="-400050">
              <a:lnSpc>
                <a:spcPts val="2600"/>
              </a:lnSpc>
            </a:pPr>
            <a:r>
              <a:rPr lang="en-US" sz="2400" b="1" baseline="0" dirty="0">
                <a:solidFill>
                  <a:srgbClr val="FFFF00"/>
                </a:solidFill>
              </a:rPr>
              <a:t>	posterpresenter@gmail.com</a:t>
            </a:r>
            <a:endParaRPr lang="en-US" sz="2800" b="1" dirty="0">
              <a:solidFill>
                <a:srgbClr val="FFFF00"/>
              </a:solidFill>
            </a:endParaRPr>
          </a:p>
        </p:txBody>
      </p:sp>
    </p:spTree>
  </p:cSld>
  <p:clrMap bg1="lt1" tx1="dk1" bg2="lt2" tx2="dk2" accent1="accent1" accent2="accent2" accent3="accent3" accent4="accent4" accent5="accent5" accent6="accent6" hlink="hlink" folHlink="folHlink"/>
  <p:sldLayoutIdLst>
    <p:sldLayoutId id="2147483652" r:id="rId1"/>
    <p:sldLayoutId id="2147483699" r:id="rId2"/>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 name="Rectangle 39"/>
          <p:cNvSpPr/>
          <p:nvPr userDrawn="1"/>
        </p:nvSpPr>
        <p:spPr>
          <a:xfrm rot="10800000">
            <a:off x="-6419" y="31869601"/>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4" imgW="4571280" imgH="1688760" progId="Photoshop.Image.13">
                    <p:embed/>
                  </p:oleObj>
                </mc:Choice>
                <mc:Fallback>
                  <p:oleObj name="Image" r:id="rId4" imgW="4571280" imgH="1688760" progId="Photoshop.Image.13">
                    <p:embed/>
                    <p:pic>
                      <p:nvPicPr>
                        <p:cNvPr id="46" name="Object 45"/>
                        <p:cNvPicPr/>
                        <p:nvPr/>
                      </p:nvPicPr>
                      <p:blipFill>
                        <a:blip r:embed="rId5"/>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6"/>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7" imgW="1574280" imgH="1053720" progId="Photoshop.Image.13">
                    <p:embed/>
                  </p:oleObj>
                </mc:Choice>
                <mc:Fallback>
                  <p:oleObj name="Image" r:id="rId7" imgW="1574280" imgH="1053720" progId="Photoshop.Image.13">
                    <p:embed/>
                    <p:pic>
                      <p:nvPicPr>
                        <p:cNvPr id="48" name="Object 47"/>
                        <p:cNvPicPr/>
                        <p:nvPr/>
                      </p:nvPicPr>
                      <p:blipFill>
                        <a:blip r:embed="rId8"/>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9"/>
              </p:cNvPr>
              <p:cNvPicPr>
                <a:picLocks noChangeAspect="1" noChangeArrowheads="1"/>
              </p:cNvPicPr>
              <p:nvPr userDrawn="1"/>
            </p:nvPicPr>
            <p:blipFill>
              <a:blip r:embed="rId10"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1"/>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2"/>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3"/>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3"/>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4"/>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5" imgW="1828440" imgH="1117440" progId="Photoshop.Image.13">
                      <p:embed/>
                    </p:oleObj>
                  </mc:Choice>
                  <mc:Fallback>
                    <p:oleObj name="Image" r:id="rId15" imgW="1828440" imgH="1117440" progId="Photoshop.Image.13">
                      <p:embed/>
                      <p:pic>
                        <p:nvPicPr>
                          <p:cNvPr id="61" name="Object 60"/>
                          <p:cNvPicPr/>
                          <p:nvPr/>
                        </p:nvPicPr>
                        <p:blipFill>
                          <a:blip r:embed="rId16"/>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7" imgW="1828440" imgH="1117440" progId="Photoshop.Image.13">
                      <p:embed/>
                    </p:oleObj>
                  </mc:Choice>
                  <mc:Fallback>
                    <p:oleObj name="Image" r:id="rId17" imgW="1828440" imgH="1117440" progId="Photoshop.Image.13">
                      <p:embed/>
                      <p:pic>
                        <p:nvPicPr>
                          <p:cNvPr id="62" name="Object 61"/>
                          <p:cNvPicPr/>
                          <p:nvPr/>
                        </p:nvPicPr>
                        <p:blipFill>
                          <a:blip r:embed="rId18"/>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9" name="Rectangle 38"/>
          <p:cNvSpPr/>
          <p:nvPr userDrawn="1"/>
        </p:nvSpPr>
        <p:spPr>
          <a:xfrm>
            <a:off x="0" y="-55065"/>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p:cNvSpPr/>
          <p:nvPr userDrawn="1"/>
        </p:nvSpPr>
        <p:spPr>
          <a:xfrm>
            <a:off x="29382628" y="5392017"/>
            <a:ext cx="13577436" cy="26757874"/>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userDrawn="1"/>
        </p:nvSpPr>
        <p:spPr>
          <a:xfrm>
            <a:off x="15156882" y="5370818"/>
            <a:ext cx="13577436" cy="26779073"/>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p:cNvSpPr/>
          <p:nvPr userDrawn="1"/>
        </p:nvSpPr>
        <p:spPr>
          <a:xfrm>
            <a:off x="931136" y="5413216"/>
            <a:ext cx="13577436"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userDrawn="1"/>
        </p:nvSpPr>
        <p:spPr>
          <a:xfrm>
            <a:off x="6096" y="4742487"/>
            <a:ext cx="43891200"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userDrawn="1"/>
        </p:nvSpPr>
        <p:spPr>
          <a:xfrm>
            <a:off x="44483668" y="31169782"/>
            <a:ext cx="7629577" cy="1399638"/>
          </a:xfrm>
          <a:prstGeom prst="rect">
            <a:avLst/>
          </a:prstGeom>
          <a:noFill/>
        </p:spPr>
        <p:txBody>
          <a:bodyPr wrap="square" lIns="65304" tIns="32651" rIns="65304" bIns="32651" rtlCol="0">
            <a:spAutoFit/>
          </a:bodyPr>
          <a:lstStyle/>
          <a:p>
            <a:pPr marL="400050" indent="-400050">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400" dirty="0">
                <a:solidFill>
                  <a:schemeClr val="bg1"/>
                </a:solidFill>
              </a:rPr>
              <a:t>2117 Fourth Street ,</a:t>
            </a:r>
            <a:r>
              <a:rPr lang="en-US" sz="2400" baseline="0" dirty="0">
                <a:solidFill>
                  <a:schemeClr val="bg1"/>
                </a:solidFill>
              </a:rPr>
              <a:t> Unit C</a:t>
            </a:r>
          </a:p>
          <a:p>
            <a:pPr marL="400050" indent="-400050">
              <a:lnSpc>
                <a:spcPts val="2600"/>
              </a:lnSpc>
            </a:pPr>
            <a:r>
              <a:rPr lang="en-US" sz="2400" baseline="0" dirty="0">
                <a:solidFill>
                  <a:schemeClr val="bg1"/>
                </a:solidFill>
              </a:rPr>
              <a:t>	Berkeley CA </a:t>
            </a:r>
            <a:r>
              <a:rPr lang="en-US" sz="2000" baseline="0" dirty="0">
                <a:solidFill>
                  <a:schemeClr val="bg1"/>
                </a:solidFill>
              </a:rPr>
              <a:t>94710</a:t>
            </a:r>
            <a:endParaRPr lang="en-US" sz="2400" baseline="0" dirty="0">
              <a:solidFill>
                <a:schemeClr val="bg1"/>
              </a:solidFill>
            </a:endParaRPr>
          </a:p>
          <a:p>
            <a:pPr marL="400050" indent="-400050">
              <a:lnSpc>
                <a:spcPts val="2600"/>
              </a:lnSpc>
            </a:pPr>
            <a:r>
              <a:rPr lang="en-US" sz="2400" b="1" baseline="0" dirty="0">
                <a:solidFill>
                  <a:srgbClr val="FFFF00"/>
                </a:solidFill>
              </a:rPr>
              <a:t>	posterpresenter@gmail.com</a:t>
            </a:r>
            <a:endParaRPr lang="en-US" sz="2800" b="1" dirty="0">
              <a:solidFill>
                <a:srgbClr val="FFFF00"/>
              </a:solidFill>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484177" y="32232601"/>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45" name="Object 44"/>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47" name="Object 46"/>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60" name="Object 59"/>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61" name="Object 60"/>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7" name="Rectangle 36"/>
          <p:cNvSpPr/>
          <p:nvPr userDrawn="1"/>
        </p:nvSpPr>
        <p:spPr>
          <a:xfrm rot="10800000">
            <a:off x="-6419" y="31869601"/>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userDrawn="1"/>
        </p:nvSpPr>
        <p:spPr>
          <a:xfrm>
            <a:off x="0" y="-55065"/>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userDrawn="1"/>
        </p:nvSpPr>
        <p:spPr>
          <a:xfrm>
            <a:off x="6096" y="4742487"/>
            <a:ext cx="43891200"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userDrawn="1"/>
        </p:nvSpPr>
        <p:spPr>
          <a:xfrm>
            <a:off x="44487207" y="31298534"/>
            <a:ext cx="7629577" cy="1399638"/>
          </a:xfrm>
          <a:prstGeom prst="rect">
            <a:avLst/>
          </a:prstGeom>
          <a:noFill/>
        </p:spPr>
        <p:txBody>
          <a:bodyPr wrap="square" lIns="65304" tIns="32651" rIns="65304" bIns="32651" rtlCol="0">
            <a:spAutoFit/>
          </a:bodyPr>
          <a:lstStyle/>
          <a:p>
            <a:pPr marL="400050" indent="-400050">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400" dirty="0">
                <a:solidFill>
                  <a:schemeClr val="bg1"/>
                </a:solidFill>
              </a:rPr>
              <a:t>2117 Fourth Street ,</a:t>
            </a:r>
            <a:r>
              <a:rPr lang="en-US" sz="2400" baseline="0" dirty="0">
                <a:solidFill>
                  <a:schemeClr val="bg1"/>
                </a:solidFill>
              </a:rPr>
              <a:t> Unit C</a:t>
            </a:r>
          </a:p>
          <a:p>
            <a:pPr marL="400050" indent="-400050">
              <a:lnSpc>
                <a:spcPts val="2600"/>
              </a:lnSpc>
            </a:pPr>
            <a:r>
              <a:rPr lang="en-US" sz="2400" baseline="0" dirty="0">
                <a:solidFill>
                  <a:schemeClr val="bg1"/>
                </a:solidFill>
              </a:rPr>
              <a:t>	Berkeley CA </a:t>
            </a:r>
            <a:r>
              <a:rPr lang="en-US" sz="2000" baseline="0" dirty="0">
                <a:solidFill>
                  <a:schemeClr val="bg1"/>
                </a:solidFill>
              </a:rPr>
              <a:t>94710</a:t>
            </a:r>
            <a:endParaRPr lang="en-US" sz="2400" baseline="0" dirty="0">
              <a:solidFill>
                <a:schemeClr val="bg1"/>
              </a:solidFill>
            </a:endParaRPr>
          </a:p>
          <a:p>
            <a:pPr marL="400050" indent="-400050">
              <a:lnSpc>
                <a:spcPts val="2600"/>
              </a:lnSpc>
            </a:pPr>
            <a:r>
              <a:rPr lang="en-US" sz="2400" b="1" baseline="0" dirty="0">
                <a:solidFill>
                  <a:srgbClr val="FFFF00"/>
                </a:solidFill>
              </a:rPr>
              <a:t>	posterpresenter@gmail.com</a:t>
            </a:r>
            <a:endParaRPr lang="en-US" sz="2800" b="1" dirty="0">
              <a:solidFill>
                <a:srgbClr val="FFFF00"/>
              </a:solidFill>
            </a:endParaRP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diagramLayout" Target="../diagrams/layout2.xml"/><Relationship Id="rId18" Type="http://schemas.openxmlformats.org/officeDocument/2006/relationships/chart" Target="../charts/chart3.xml"/><Relationship Id="rId3" Type="http://schemas.openxmlformats.org/officeDocument/2006/relationships/chart" Target="../charts/chart1.xml"/><Relationship Id="rId21" Type="http://schemas.openxmlformats.org/officeDocument/2006/relationships/image" Target="../media/image29.png"/><Relationship Id="rId7" Type="http://schemas.openxmlformats.org/officeDocument/2006/relationships/diagramData" Target="../diagrams/data1.xml"/><Relationship Id="rId12" Type="http://schemas.openxmlformats.org/officeDocument/2006/relationships/diagramData" Target="../diagrams/data2.xml"/><Relationship Id="rId17" Type="http://schemas.openxmlformats.org/officeDocument/2006/relationships/chart" Target="../charts/chart2.xml"/><Relationship Id="rId2" Type="http://schemas.openxmlformats.org/officeDocument/2006/relationships/notesSlide" Target="../notesSlides/notesSlide1.xml"/><Relationship Id="rId16" Type="http://schemas.microsoft.com/office/2007/relationships/diagramDrawing" Target="../diagrams/drawing2.xml"/><Relationship Id="rId20" Type="http://schemas.openxmlformats.org/officeDocument/2006/relationships/image" Target="../media/image28.jpeg"/><Relationship Id="rId1" Type="http://schemas.openxmlformats.org/officeDocument/2006/relationships/slideLayout" Target="../slideLayouts/slideLayout5.xml"/><Relationship Id="rId6" Type="http://schemas.openxmlformats.org/officeDocument/2006/relationships/image" Target="../media/image13.png"/><Relationship Id="rId11" Type="http://schemas.microsoft.com/office/2007/relationships/diagramDrawing" Target="../diagrams/drawing1.xml"/><Relationship Id="rId5" Type="http://schemas.openxmlformats.org/officeDocument/2006/relationships/image" Target="../media/image12.png"/><Relationship Id="rId15" Type="http://schemas.openxmlformats.org/officeDocument/2006/relationships/diagramColors" Target="../diagrams/colors2.xml"/><Relationship Id="rId10" Type="http://schemas.openxmlformats.org/officeDocument/2006/relationships/diagramColors" Target="../diagrams/colors1.xml"/><Relationship Id="rId19" Type="http://schemas.openxmlformats.org/officeDocument/2006/relationships/chart" Target="../charts/chart4.xml"/><Relationship Id="rId4" Type="http://schemas.openxmlformats.org/officeDocument/2006/relationships/image" Target="../media/image11.png"/><Relationship Id="rId9" Type="http://schemas.openxmlformats.org/officeDocument/2006/relationships/diagramQuickStyle" Target="../diagrams/quickStyle1.xml"/><Relationship Id="rId1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 name="Chart 69">
            <a:extLst>
              <a:ext uri="{FF2B5EF4-FFF2-40B4-BE49-F238E27FC236}">
                <a16:creationId xmlns:a16="http://schemas.microsoft.com/office/drawing/2014/main" id="{F0F08FBA-20D6-FE8E-B008-369837BA2986}"/>
              </a:ext>
            </a:extLst>
          </p:cNvPr>
          <p:cNvGraphicFramePr>
            <a:graphicFrameLocks/>
          </p:cNvGraphicFramePr>
          <p:nvPr>
            <p:extLst>
              <p:ext uri="{D42A27DB-BD31-4B8C-83A1-F6EECF244321}">
                <p14:modId xmlns:p14="http://schemas.microsoft.com/office/powerpoint/2010/main" val="423932432"/>
              </p:ext>
            </p:extLst>
          </p:nvPr>
        </p:nvGraphicFramePr>
        <p:xfrm>
          <a:off x="30807459" y="26669402"/>
          <a:ext cx="12399531" cy="5087604"/>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 Placeholder 2">
            <a:extLst>
              <a:ext uri="{FF2B5EF4-FFF2-40B4-BE49-F238E27FC236}">
                <a16:creationId xmlns:a16="http://schemas.microsoft.com/office/drawing/2014/main" id="{0B08E830-7B6F-CE15-72B0-DF123DBC329F}"/>
              </a:ext>
            </a:extLst>
          </p:cNvPr>
          <p:cNvSpPr>
            <a:spLocks noGrp="1"/>
          </p:cNvSpPr>
          <p:nvPr>
            <p:ph type="body" sz="quarter" idx="11"/>
          </p:nvPr>
        </p:nvSpPr>
        <p:spPr>
          <a:xfrm>
            <a:off x="876307" y="5635437"/>
            <a:ext cx="13022573" cy="1015655"/>
          </a:xfrm>
          <a:solidFill>
            <a:schemeClr val="accent1">
              <a:lumMod val="60000"/>
              <a:lumOff val="40000"/>
            </a:schemeClr>
          </a:solidFill>
        </p:spPr>
        <p:txBody>
          <a:bodyPr/>
          <a:lstStyle/>
          <a:p>
            <a:r>
              <a:rPr lang="en-US" sz="5400" dirty="0">
                <a:solidFill>
                  <a:schemeClr val="tx1"/>
                </a:solidFill>
              </a:rPr>
              <a:t>History of Cybersecurity Program @ ODU</a:t>
            </a:r>
          </a:p>
        </p:txBody>
      </p:sp>
      <p:sp>
        <p:nvSpPr>
          <p:cNvPr id="17" name="Text Placeholder 16">
            <a:extLst>
              <a:ext uri="{FF2B5EF4-FFF2-40B4-BE49-F238E27FC236}">
                <a16:creationId xmlns:a16="http://schemas.microsoft.com/office/drawing/2014/main" id="{6FA4F528-2BAB-9061-C8DB-102EA30941CD}"/>
              </a:ext>
            </a:extLst>
          </p:cNvPr>
          <p:cNvSpPr>
            <a:spLocks noGrp="1"/>
          </p:cNvSpPr>
          <p:nvPr>
            <p:ph type="body" sz="quarter" idx="151"/>
          </p:nvPr>
        </p:nvSpPr>
        <p:spPr>
          <a:xfrm>
            <a:off x="5932593" y="2958393"/>
            <a:ext cx="31998968" cy="1280160"/>
          </a:xfrm>
        </p:spPr>
        <p:txBody>
          <a:bodyPr>
            <a:normAutofit fontScale="92500" lnSpcReduction="10000"/>
          </a:bodyPr>
          <a:lstStyle/>
          <a:p>
            <a:r>
              <a:rPr lang="en-US" dirty="0">
                <a:solidFill>
                  <a:srgbClr val="002060"/>
                </a:solidFill>
                <a:latin typeface="Calibri" panose="020F0502020204030204" pitchFamily="34" charset="0"/>
                <a:ea typeface="Times New Roman" panose="02020603050405020304" pitchFamily="18" charset="0"/>
              </a:rPr>
              <a:t>Old Dominion University, Norfolk, VA</a:t>
            </a:r>
            <a:endParaRPr lang="en-US" dirty="0">
              <a:solidFill>
                <a:srgbClr val="002060"/>
              </a:solidFill>
            </a:endParaRPr>
          </a:p>
          <a:p>
            <a:endParaRPr lang="en-US" sz="8800" dirty="0">
              <a:solidFill>
                <a:srgbClr val="002060"/>
              </a:solidFill>
            </a:endParaRPr>
          </a:p>
        </p:txBody>
      </p:sp>
      <p:sp>
        <p:nvSpPr>
          <p:cNvPr id="18" name="Text Placeholder 17">
            <a:extLst>
              <a:ext uri="{FF2B5EF4-FFF2-40B4-BE49-F238E27FC236}">
                <a16:creationId xmlns:a16="http://schemas.microsoft.com/office/drawing/2014/main" id="{C8AEFC53-F517-3A13-7E42-2AA0110FA4C9}"/>
              </a:ext>
            </a:extLst>
          </p:cNvPr>
          <p:cNvSpPr>
            <a:spLocks noGrp="1"/>
          </p:cNvSpPr>
          <p:nvPr>
            <p:ph type="body" sz="quarter" idx="153"/>
          </p:nvPr>
        </p:nvSpPr>
        <p:spPr>
          <a:xfrm>
            <a:off x="5932593" y="1255781"/>
            <a:ext cx="31998968" cy="1637973"/>
          </a:xfrm>
        </p:spPr>
        <p:txBody>
          <a:bodyPr anchor="ctr">
            <a:normAutofit/>
          </a:bodyPr>
          <a:lstStyle/>
          <a:p>
            <a:r>
              <a:rPr lang="en-US" sz="7200" dirty="0">
                <a:solidFill>
                  <a:srgbClr val="002060"/>
                </a:solidFill>
              </a:rPr>
              <a:t>Developing Cyber Talents to Succeed through a Comprehensive Support Program</a:t>
            </a:r>
          </a:p>
        </p:txBody>
      </p:sp>
      <p:sp>
        <p:nvSpPr>
          <p:cNvPr id="19" name="Text Placeholder 1">
            <a:extLst>
              <a:ext uri="{FF2B5EF4-FFF2-40B4-BE49-F238E27FC236}">
                <a16:creationId xmlns:a16="http://schemas.microsoft.com/office/drawing/2014/main" id="{DF621789-0D2B-58ED-D0EB-014501B8208B}"/>
              </a:ext>
            </a:extLst>
          </p:cNvPr>
          <p:cNvSpPr>
            <a:spLocks noGrp="1"/>
          </p:cNvSpPr>
          <p:nvPr>
            <p:ph type="body" sz="quarter" idx="10"/>
          </p:nvPr>
        </p:nvSpPr>
        <p:spPr>
          <a:xfrm>
            <a:off x="915039" y="6664624"/>
            <a:ext cx="13591277" cy="6334019"/>
          </a:xfrm>
        </p:spPr>
        <p:txBody>
          <a:bodyPr/>
          <a:lstStyle/>
          <a:p>
            <a:pPr marL="342900" indent="-342900">
              <a:buFont typeface="Arial" panose="020B0604020202020204" pitchFamily="34" charset="0"/>
              <a:buChar char="•"/>
            </a:pPr>
            <a:r>
              <a:rPr lang="en-US" sz="3600" dirty="0">
                <a:solidFill>
                  <a:schemeClr val="tx1"/>
                </a:solidFill>
              </a:rPr>
              <a:t>Center for Cybersecurity Education and Research created (2015)</a:t>
            </a:r>
          </a:p>
          <a:p>
            <a:pPr marL="342900" indent="-342900">
              <a:buFont typeface="Arial" panose="020B0604020202020204" pitchFamily="34" charset="0"/>
              <a:buChar char="•"/>
            </a:pPr>
            <a:r>
              <a:rPr lang="en-US" sz="3600" dirty="0">
                <a:solidFill>
                  <a:schemeClr val="tx1"/>
                </a:solidFill>
              </a:rPr>
              <a:t>Interdisciplinary major &amp; minor in cybersecurity created in (2015)</a:t>
            </a:r>
          </a:p>
          <a:p>
            <a:pPr marL="342900" indent="-342900">
              <a:buFont typeface="Arial" panose="020B0604020202020204" pitchFamily="34" charset="0"/>
              <a:buChar char="•"/>
            </a:pPr>
            <a:r>
              <a:rPr lang="en-US" sz="3600" dirty="0">
                <a:solidFill>
                  <a:schemeClr val="tx1"/>
                </a:solidFill>
              </a:rPr>
              <a:t>Interdisciplinary major in cyber operations created (2017)</a:t>
            </a:r>
          </a:p>
          <a:p>
            <a:pPr marL="342900" indent="-342900">
              <a:buFont typeface="Arial" panose="020B0604020202020204" pitchFamily="34" charset="0"/>
              <a:buChar char="•"/>
            </a:pPr>
            <a:r>
              <a:rPr lang="en-US" sz="3600" dirty="0">
                <a:solidFill>
                  <a:schemeClr val="tx1"/>
                </a:solidFill>
              </a:rPr>
              <a:t>Cybersecurity programs placed online (2018)</a:t>
            </a:r>
          </a:p>
          <a:p>
            <a:pPr marL="342900" indent="-342900">
              <a:buFont typeface="Arial" panose="020B0604020202020204" pitchFamily="34" charset="0"/>
              <a:buChar char="•"/>
            </a:pPr>
            <a:r>
              <a:rPr lang="en-US" sz="3600" dirty="0">
                <a:solidFill>
                  <a:schemeClr val="tx1"/>
                </a:solidFill>
              </a:rPr>
              <a:t>MS in Cybersecurity created (2018)</a:t>
            </a:r>
          </a:p>
          <a:p>
            <a:pPr marL="342900" indent="-342900">
              <a:buFont typeface="Arial" panose="020B0604020202020204" pitchFamily="34" charset="0"/>
              <a:buChar char="•"/>
            </a:pPr>
            <a:r>
              <a:rPr lang="en-US" sz="3600" dirty="0">
                <a:solidFill>
                  <a:schemeClr val="tx1"/>
                </a:solidFill>
              </a:rPr>
              <a:t>Cyber Operations major received </a:t>
            </a:r>
            <a:r>
              <a:rPr lang="en-US" sz="3600" i="1" u="sng" dirty="0">
                <a:solidFill>
                  <a:schemeClr val="tx1"/>
                </a:solidFill>
              </a:rPr>
              <a:t>NSA CAE-CO designation </a:t>
            </a:r>
            <a:r>
              <a:rPr lang="en-US" sz="3600" dirty="0">
                <a:solidFill>
                  <a:schemeClr val="tx1"/>
                </a:solidFill>
              </a:rPr>
              <a:t>(2019)</a:t>
            </a:r>
          </a:p>
          <a:p>
            <a:pPr marL="342900" indent="-342900">
              <a:buFont typeface="Arial" panose="020B0604020202020204" pitchFamily="34" charset="0"/>
              <a:buChar char="•"/>
            </a:pPr>
            <a:r>
              <a:rPr lang="en-US" sz="3600" dirty="0">
                <a:solidFill>
                  <a:schemeClr val="tx1"/>
                </a:solidFill>
              </a:rPr>
              <a:t>D.ENG in Cybersecurity created (2019)</a:t>
            </a:r>
          </a:p>
          <a:p>
            <a:pPr marL="342900" indent="-342900">
              <a:buFont typeface="Arial" panose="020B0604020202020204" pitchFamily="34" charset="0"/>
              <a:buChar char="•"/>
            </a:pPr>
            <a:r>
              <a:rPr lang="en-US" sz="3600" dirty="0">
                <a:solidFill>
                  <a:schemeClr val="tx1"/>
                </a:solidFill>
              </a:rPr>
              <a:t>Standalone BS in Cybersecurity created (2019)</a:t>
            </a:r>
          </a:p>
          <a:p>
            <a:pPr marL="342900" indent="-342900">
              <a:buFont typeface="Arial" panose="020B0604020202020204" pitchFamily="34" charset="0"/>
              <a:buChar char="•"/>
            </a:pPr>
            <a:r>
              <a:rPr lang="en-US" sz="3600" dirty="0">
                <a:solidFill>
                  <a:schemeClr val="tx1"/>
                </a:solidFill>
              </a:rPr>
              <a:t>School of Cybersecurity created (2020)</a:t>
            </a:r>
          </a:p>
        </p:txBody>
      </p:sp>
      <p:grpSp>
        <p:nvGrpSpPr>
          <p:cNvPr id="23" name="Group 22">
            <a:extLst>
              <a:ext uri="{FF2B5EF4-FFF2-40B4-BE49-F238E27FC236}">
                <a16:creationId xmlns:a16="http://schemas.microsoft.com/office/drawing/2014/main" id="{64F3410F-D844-F9A3-E62C-9270F57D6CB5}"/>
              </a:ext>
            </a:extLst>
          </p:cNvPr>
          <p:cNvGrpSpPr/>
          <p:nvPr/>
        </p:nvGrpSpPr>
        <p:grpSpPr>
          <a:xfrm>
            <a:off x="1433346" y="12851838"/>
            <a:ext cx="11357941" cy="8011658"/>
            <a:chOff x="2177535" y="15656651"/>
            <a:chExt cx="11357941" cy="8011658"/>
          </a:xfrm>
        </p:grpSpPr>
        <p:pic>
          <p:nvPicPr>
            <p:cNvPr id="24" name="Screen Shot 2021-10-23 at 10.15.03 AM.png" descr="Screen Shot 2021-10-23 at 10.15.03 AM.png">
              <a:extLst>
                <a:ext uri="{FF2B5EF4-FFF2-40B4-BE49-F238E27FC236}">
                  <a16:creationId xmlns:a16="http://schemas.microsoft.com/office/drawing/2014/main" id="{8CE621F9-6750-5483-E8EB-9842A4D8946D}"/>
                </a:ext>
              </a:extLst>
            </p:cNvPr>
            <p:cNvPicPr>
              <a:picLocks noChangeAspect="1"/>
            </p:cNvPicPr>
            <p:nvPr/>
          </p:nvPicPr>
          <p:blipFill>
            <a:blip r:embed="rId4"/>
            <a:srcRect l="907" r="1890"/>
            <a:stretch>
              <a:fillRect/>
            </a:stretch>
          </p:blipFill>
          <p:spPr>
            <a:xfrm>
              <a:off x="2177535" y="15656651"/>
              <a:ext cx="11357941" cy="8011658"/>
            </a:xfrm>
            <a:prstGeom prst="rect">
              <a:avLst/>
            </a:prstGeom>
            <a:ln w="25400">
              <a:miter lim="400000"/>
            </a:ln>
            <a:effectLst>
              <a:outerShdw blurRad="190500" dist="101600" dir="5400000" rotWithShape="0">
                <a:srgbClr val="000000">
                  <a:alpha val="40000"/>
                </a:srgbClr>
              </a:outerShdw>
            </a:effectLst>
          </p:spPr>
        </p:pic>
        <p:grpSp>
          <p:nvGrpSpPr>
            <p:cNvPr id="25" name="Group">
              <a:extLst>
                <a:ext uri="{FF2B5EF4-FFF2-40B4-BE49-F238E27FC236}">
                  <a16:creationId xmlns:a16="http://schemas.microsoft.com/office/drawing/2014/main" id="{278D0E18-6F66-B369-D8AA-563297AB0AC9}"/>
                </a:ext>
              </a:extLst>
            </p:cNvPr>
            <p:cNvGrpSpPr/>
            <p:nvPr/>
          </p:nvGrpSpPr>
          <p:grpSpPr>
            <a:xfrm>
              <a:off x="2808937" y="16459200"/>
              <a:ext cx="8830414" cy="6276187"/>
              <a:chOff x="-311151" y="1030530"/>
              <a:chExt cx="9444381" cy="7422179"/>
            </a:xfrm>
          </p:grpSpPr>
          <p:sp>
            <p:nvSpPr>
              <p:cNvPr id="26" name="Line">
                <a:extLst>
                  <a:ext uri="{FF2B5EF4-FFF2-40B4-BE49-F238E27FC236}">
                    <a16:creationId xmlns:a16="http://schemas.microsoft.com/office/drawing/2014/main" id="{9D115F53-E4E3-5A61-B053-D583A70FFF6D}"/>
                  </a:ext>
                </a:extLst>
              </p:cNvPr>
              <p:cNvSpPr/>
              <p:nvPr/>
            </p:nvSpPr>
            <p:spPr>
              <a:xfrm flipV="1">
                <a:off x="-311151" y="1030530"/>
                <a:ext cx="9444381" cy="7422179"/>
              </a:xfrm>
              <a:prstGeom prst="line">
                <a:avLst/>
              </a:prstGeom>
              <a:noFill/>
              <a:ln w="88900" cap="flat">
                <a:solidFill>
                  <a:srgbClr val="941100"/>
                </a:solidFill>
                <a:prstDash val="solid"/>
                <a:miter lim="400000"/>
                <a:tailEnd type="triangle" w="med" len="med"/>
              </a:ln>
              <a:effectLst/>
            </p:spPr>
            <p:txBody>
              <a:bodyPr wrap="square" lIns="50800" tIns="50800" rIns="50800" bIns="50800" numCol="1" anchor="ctr">
                <a:noAutofit/>
              </a:bodyPr>
              <a:lstStyle/>
              <a:p>
                <a:pPr>
                  <a:defRPr sz="4400"/>
                </a:pPr>
                <a:endParaRPr/>
              </a:p>
            </p:txBody>
          </p:sp>
          <p:sp>
            <p:nvSpPr>
              <p:cNvPr id="27" name="~90x">
                <a:extLst>
                  <a:ext uri="{FF2B5EF4-FFF2-40B4-BE49-F238E27FC236}">
                    <a16:creationId xmlns:a16="http://schemas.microsoft.com/office/drawing/2014/main" id="{2C14298A-0305-178C-F3C1-7922D1DBC3EF}"/>
                  </a:ext>
                </a:extLst>
              </p:cNvPr>
              <p:cNvSpPr txBox="1"/>
              <p:nvPr/>
            </p:nvSpPr>
            <p:spPr>
              <a:xfrm>
                <a:off x="3587457" y="3060121"/>
                <a:ext cx="1638816" cy="9977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4400" b="1">
                    <a:solidFill>
                      <a:srgbClr val="941100"/>
                    </a:solidFill>
                  </a:defRPr>
                </a:lvl1pPr>
              </a:lstStyle>
              <a:p>
                <a:r>
                  <a:rPr dirty="0"/>
                  <a:t>~90x</a:t>
                </a:r>
              </a:p>
            </p:txBody>
          </p:sp>
        </p:grpSp>
      </p:grpSp>
      <p:grpSp>
        <p:nvGrpSpPr>
          <p:cNvPr id="43" name="Group 42">
            <a:extLst>
              <a:ext uri="{FF2B5EF4-FFF2-40B4-BE49-F238E27FC236}">
                <a16:creationId xmlns:a16="http://schemas.microsoft.com/office/drawing/2014/main" id="{2A439896-E989-984B-C8E1-D04B6D4BD3C5}"/>
              </a:ext>
            </a:extLst>
          </p:cNvPr>
          <p:cNvGrpSpPr/>
          <p:nvPr/>
        </p:nvGrpSpPr>
        <p:grpSpPr>
          <a:xfrm>
            <a:off x="876307" y="21379552"/>
            <a:ext cx="12937099" cy="10677615"/>
            <a:chOff x="13532307" y="15457386"/>
            <a:chExt cx="12937099" cy="10677615"/>
          </a:xfrm>
        </p:grpSpPr>
        <p:pic>
          <p:nvPicPr>
            <p:cNvPr id="22" name="Picture 21">
              <a:extLst>
                <a:ext uri="{FF2B5EF4-FFF2-40B4-BE49-F238E27FC236}">
                  <a16:creationId xmlns:a16="http://schemas.microsoft.com/office/drawing/2014/main" id="{684CC90F-6CE6-1C31-247F-F394C816A420}"/>
                </a:ext>
              </a:extLst>
            </p:cNvPr>
            <p:cNvPicPr>
              <a:picLocks noChangeAspect="1"/>
            </p:cNvPicPr>
            <p:nvPr/>
          </p:nvPicPr>
          <p:blipFill>
            <a:blip r:embed="rId5"/>
            <a:stretch>
              <a:fillRect/>
            </a:stretch>
          </p:blipFill>
          <p:spPr>
            <a:xfrm>
              <a:off x="13671704" y="18917964"/>
              <a:ext cx="12696374" cy="7217037"/>
            </a:xfrm>
            <a:prstGeom prst="rect">
              <a:avLst/>
            </a:prstGeom>
          </p:spPr>
        </p:pic>
        <p:sp>
          <p:nvSpPr>
            <p:cNvPr id="37" name="Text Placeholder 2">
              <a:extLst>
                <a:ext uri="{FF2B5EF4-FFF2-40B4-BE49-F238E27FC236}">
                  <a16:creationId xmlns:a16="http://schemas.microsoft.com/office/drawing/2014/main" id="{ADFCEF35-8D7A-4361-768B-39EC8624B287}"/>
                </a:ext>
              </a:extLst>
            </p:cNvPr>
            <p:cNvSpPr txBox="1">
              <a:spLocks/>
            </p:cNvSpPr>
            <p:nvPr/>
          </p:nvSpPr>
          <p:spPr>
            <a:xfrm>
              <a:off x="13532307" y="15457386"/>
              <a:ext cx="12937099" cy="1015655"/>
            </a:xfrm>
            <a:prstGeom prst="rect">
              <a:avLst/>
            </a:prstGeom>
            <a:solidFill>
              <a:schemeClr val="accent1">
                <a:lumMod val="60000"/>
                <a:lumOff val="40000"/>
              </a:schemeClr>
            </a:solidFill>
          </p:spPr>
          <p:txBody>
            <a:bodyPr wrap="square" lIns="91436" tIns="91436" rIns="91436" bIns="91436" anchor="ctr" anchorCtr="0">
              <a:spAutoFit/>
            </a:bodyPr>
            <a:lstStyle>
              <a:defPPr>
                <a:defRPr lang="en-US"/>
              </a:defPPr>
              <a:lvl1pPr indent="0" algn="ctr">
                <a:spcBef>
                  <a:spcPct val="20000"/>
                </a:spcBef>
                <a:buFont typeface="Arial" pitchFamily="34" charset="0"/>
                <a:buNone/>
                <a:defRPr sz="5400" b="1" u="sng" baseline="0"/>
              </a:lvl1pPr>
              <a:lvl2pPr marL="3565982" indent="-1371531">
                <a:spcBef>
                  <a:spcPct val="20000"/>
                </a:spcBef>
                <a:buFont typeface="Arial" pitchFamily="34" charset="0"/>
                <a:buChar char="–"/>
                <a:defRPr sz="13500"/>
              </a:lvl2pPr>
              <a:lvl3pPr marL="5486126" indent="-1097226">
                <a:spcBef>
                  <a:spcPct val="20000"/>
                </a:spcBef>
                <a:buFont typeface="Arial" pitchFamily="34" charset="0"/>
                <a:buChar char="•"/>
                <a:defRPr sz="11600"/>
              </a:lvl3pPr>
              <a:lvl4pPr marL="7680577" indent="-1097226">
                <a:spcBef>
                  <a:spcPct val="20000"/>
                </a:spcBef>
                <a:buFont typeface="Arial" pitchFamily="34" charset="0"/>
                <a:buChar char="–"/>
                <a:defRPr sz="9600"/>
              </a:lvl4pPr>
              <a:lvl5pPr marL="9875026" indent="-1097226">
                <a:spcBef>
                  <a:spcPct val="20000"/>
                </a:spcBef>
                <a:buFont typeface="Arial" pitchFamily="34" charset="0"/>
                <a:buChar char="»"/>
                <a:defRPr sz="9600"/>
              </a:lvl5pPr>
              <a:lvl6pPr marL="12069477" indent="-1097226">
                <a:spcBef>
                  <a:spcPct val="20000"/>
                </a:spcBef>
                <a:buFont typeface="Arial" pitchFamily="34" charset="0"/>
                <a:buChar char="•"/>
                <a:defRPr sz="9600"/>
              </a:lvl6pPr>
              <a:lvl7pPr marL="14263926" indent="-1097226">
                <a:spcBef>
                  <a:spcPct val="20000"/>
                </a:spcBef>
                <a:buFont typeface="Arial" pitchFamily="34" charset="0"/>
                <a:buChar char="•"/>
                <a:defRPr sz="9600"/>
              </a:lvl7pPr>
              <a:lvl8pPr marL="16458377" indent="-1097226">
                <a:spcBef>
                  <a:spcPct val="20000"/>
                </a:spcBef>
                <a:buFont typeface="Arial" pitchFamily="34" charset="0"/>
                <a:buChar char="•"/>
                <a:defRPr sz="9600"/>
              </a:lvl8pPr>
              <a:lvl9pPr marL="18652827" indent="-1097226">
                <a:spcBef>
                  <a:spcPct val="20000"/>
                </a:spcBef>
                <a:buFont typeface="Arial" pitchFamily="34" charset="0"/>
                <a:buChar char="•"/>
                <a:defRPr sz="9600"/>
              </a:lvl9pPr>
            </a:lstStyle>
            <a:p>
              <a:r>
                <a:rPr lang="en-US" dirty="0"/>
                <a:t>Cybersecurity Program Hierarchy</a:t>
              </a:r>
            </a:p>
          </p:txBody>
        </p:sp>
      </p:grpSp>
      <p:pic>
        <p:nvPicPr>
          <p:cNvPr id="41" name="Picture 2" descr="A Hub for National Centers of Academic Excellence | CAE Community">
            <a:extLst>
              <a:ext uri="{FF2B5EF4-FFF2-40B4-BE49-F238E27FC236}">
                <a16:creationId xmlns:a16="http://schemas.microsoft.com/office/drawing/2014/main" id="{7759799B-377B-1052-4F16-D303BD7F41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68575" y="11037219"/>
            <a:ext cx="3411025" cy="1550466"/>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Group 43">
            <a:extLst>
              <a:ext uri="{FF2B5EF4-FFF2-40B4-BE49-F238E27FC236}">
                <a16:creationId xmlns:a16="http://schemas.microsoft.com/office/drawing/2014/main" id="{287FF1B8-FDDF-9F72-AA0F-9FBDD0CE0009}"/>
              </a:ext>
            </a:extLst>
          </p:cNvPr>
          <p:cNvGrpSpPr/>
          <p:nvPr/>
        </p:nvGrpSpPr>
        <p:grpSpPr>
          <a:xfrm>
            <a:off x="14143346" y="5635437"/>
            <a:ext cx="15942208" cy="10752169"/>
            <a:chOff x="25724539" y="11649581"/>
            <a:chExt cx="15942208" cy="10752169"/>
          </a:xfrm>
        </p:grpSpPr>
        <p:sp>
          <p:nvSpPr>
            <p:cNvPr id="40" name="Text Placeholder 2">
              <a:extLst>
                <a:ext uri="{FF2B5EF4-FFF2-40B4-BE49-F238E27FC236}">
                  <a16:creationId xmlns:a16="http://schemas.microsoft.com/office/drawing/2014/main" id="{C1DB5021-0ED8-302B-2AA1-31B62B09FE8B}"/>
                </a:ext>
              </a:extLst>
            </p:cNvPr>
            <p:cNvSpPr txBox="1">
              <a:spLocks/>
            </p:cNvSpPr>
            <p:nvPr/>
          </p:nvSpPr>
          <p:spPr>
            <a:xfrm>
              <a:off x="25724539" y="11649581"/>
              <a:ext cx="15942208" cy="1015655"/>
            </a:xfrm>
            <a:prstGeom prst="rect">
              <a:avLst/>
            </a:prstGeom>
            <a:solidFill>
              <a:schemeClr val="accent1">
                <a:lumMod val="60000"/>
                <a:lumOff val="40000"/>
              </a:schemeClr>
            </a:solidFill>
          </p:spPr>
          <p:txBody>
            <a:bodyPr wrap="square" lIns="91436" tIns="91436" rIns="91436" bIns="91436" anchor="ctr" anchorCtr="0">
              <a:spAutoFit/>
            </a:bodyPr>
            <a:lstStyle>
              <a:lvl1pPr indent="0" algn="ctr">
                <a:spcBef>
                  <a:spcPct val="20000"/>
                </a:spcBef>
                <a:buFont typeface="Arial" pitchFamily="34" charset="0"/>
                <a:buNone/>
                <a:defRPr sz="5400" b="1" u="sng" baseline="0"/>
              </a:lvl1pPr>
              <a:lvl2pPr marL="3565982" indent="-1371531">
                <a:spcBef>
                  <a:spcPct val="20000"/>
                </a:spcBef>
                <a:buFont typeface="Arial" pitchFamily="34" charset="0"/>
                <a:buChar char="–"/>
                <a:defRPr sz="13500"/>
              </a:lvl2pPr>
              <a:lvl3pPr marL="5486126" indent="-1097226">
                <a:spcBef>
                  <a:spcPct val="20000"/>
                </a:spcBef>
                <a:buFont typeface="Arial" pitchFamily="34" charset="0"/>
                <a:buChar char="•"/>
                <a:defRPr sz="11600"/>
              </a:lvl3pPr>
              <a:lvl4pPr marL="7680577" indent="-1097226">
                <a:spcBef>
                  <a:spcPct val="20000"/>
                </a:spcBef>
                <a:buFont typeface="Arial" pitchFamily="34" charset="0"/>
                <a:buChar char="–"/>
                <a:defRPr sz="9600"/>
              </a:lvl4pPr>
              <a:lvl5pPr marL="9875026" indent="-1097226">
                <a:spcBef>
                  <a:spcPct val="20000"/>
                </a:spcBef>
                <a:buFont typeface="Arial" pitchFamily="34" charset="0"/>
                <a:buChar char="»"/>
                <a:defRPr sz="9600"/>
              </a:lvl5pPr>
              <a:lvl6pPr marL="12069477" indent="-1097226">
                <a:spcBef>
                  <a:spcPct val="20000"/>
                </a:spcBef>
                <a:buFont typeface="Arial" pitchFamily="34" charset="0"/>
                <a:buChar char="•"/>
                <a:defRPr sz="9600"/>
              </a:lvl6pPr>
              <a:lvl7pPr marL="14263926" indent="-1097226">
                <a:spcBef>
                  <a:spcPct val="20000"/>
                </a:spcBef>
                <a:buFont typeface="Arial" pitchFamily="34" charset="0"/>
                <a:buChar char="•"/>
                <a:defRPr sz="9600"/>
              </a:lvl7pPr>
              <a:lvl8pPr marL="16458377" indent="-1097226">
                <a:spcBef>
                  <a:spcPct val="20000"/>
                </a:spcBef>
                <a:buFont typeface="Arial" pitchFamily="34" charset="0"/>
                <a:buChar char="•"/>
                <a:defRPr sz="9600"/>
              </a:lvl8pPr>
              <a:lvl9pPr marL="18652827" indent="-1097226">
                <a:spcBef>
                  <a:spcPct val="20000"/>
                </a:spcBef>
                <a:buFont typeface="Arial" pitchFamily="34" charset="0"/>
                <a:buChar char="•"/>
                <a:defRPr sz="9600"/>
              </a:lvl9pPr>
            </a:lstStyle>
            <a:p>
              <a:r>
                <a:rPr lang="en-US" dirty="0"/>
                <a:t>Understand the Need of Cybersecurity Education</a:t>
              </a:r>
            </a:p>
          </p:txBody>
        </p:sp>
        <p:sp>
          <p:nvSpPr>
            <p:cNvPr id="42" name="Text Placeholder 1">
              <a:extLst>
                <a:ext uri="{FF2B5EF4-FFF2-40B4-BE49-F238E27FC236}">
                  <a16:creationId xmlns:a16="http://schemas.microsoft.com/office/drawing/2014/main" id="{BECEA47E-A19F-537C-B6EA-21E77BAD413F}"/>
                </a:ext>
              </a:extLst>
            </p:cNvPr>
            <p:cNvSpPr txBox="1">
              <a:spLocks/>
            </p:cNvSpPr>
            <p:nvPr/>
          </p:nvSpPr>
          <p:spPr>
            <a:xfrm>
              <a:off x="25884034" y="12522145"/>
              <a:ext cx="15519437" cy="9879605"/>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342900" indent="-342900" algn="just">
                <a:buFont typeface="Arial" pitchFamily="34" charset="0"/>
                <a:buChar char="•"/>
              </a:pPr>
              <a:r>
                <a:rPr lang="en-US" sz="3600" dirty="0">
                  <a:solidFill>
                    <a:schemeClr val="tx1"/>
                  </a:solidFill>
                </a:rPr>
                <a:t>Increases the number of educated and skilled professionals in the cybersecurity industry, which are in strong demand; </a:t>
              </a:r>
            </a:p>
            <a:p>
              <a:pPr marL="342900" indent="-342900" algn="just">
                <a:buFont typeface="Arial" pitchFamily="34" charset="0"/>
                <a:buChar char="•"/>
              </a:pPr>
              <a:r>
                <a:rPr lang="en-US" sz="3600" dirty="0">
                  <a:solidFill>
                    <a:schemeClr val="tx1"/>
                  </a:solidFill>
                </a:rPr>
                <a:t>Helps to balance the economic and social inequality of the nation by producing more students from low-income families entering the high-paying cybersecurity workforce;</a:t>
              </a:r>
            </a:p>
            <a:p>
              <a:pPr marL="342900" indent="-342900" algn="just">
                <a:buFont typeface="Arial" pitchFamily="34" charset="0"/>
                <a:buChar char="•"/>
              </a:pPr>
              <a:r>
                <a:rPr lang="en-US" sz="3600" dirty="0">
                  <a:solidFill>
                    <a:schemeClr val="tx1"/>
                  </a:solidFill>
                </a:rPr>
                <a:t>Broaden the participation of underrepresented minority students in the much-needed STEM field, given that more than half of our cybersecurity students are from underrepresented minority groups.</a:t>
              </a:r>
            </a:p>
            <a:p>
              <a:pPr algn="just"/>
              <a:r>
                <a:rPr lang="en-US" sz="3600" b="1" dirty="0">
                  <a:solidFill>
                    <a:schemeClr val="tx1"/>
                  </a:solidFill>
                </a:rPr>
                <a:t>Challenges in Cybersecurity Education</a:t>
              </a:r>
            </a:p>
            <a:p>
              <a:pPr marL="342900" indent="-342900" algn="just">
                <a:buFont typeface="Arial" pitchFamily="34" charset="0"/>
                <a:buChar char="•"/>
              </a:pPr>
              <a:r>
                <a:rPr lang="en-US" sz="3600" dirty="0">
                  <a:solidFill>
                    <a:schemeClr val="tx1"/>
                  </a:solidFill>
                </a:rPr>
                <a:t>Cybersecurity has an interdisciplinary nature. The intrinsically different culture, prerequisite knowledge and skills, and learning methodologies, objectives, and goals among the disciplines often become a hurdle for students to successfully complete their major courses.</a:t>
              </a:r>
            </a:p>
            <a:p>
              <a:pPr marL="342900" indent="-342900" algn="just">
                <a:buFont typeface="Arial" pitchFamily="34" charset="0"/>
                <a:buChar char="•"/>
              </a:pPr>
              <a:r>
                <a:rPr lang="en-US" sz="3600" dirty="0">
                  <a:solidFill>
                    <a:schemeClr val="tx1"/>
                  </a:solidFill>
                </a:rPr>
                <a:t>Due to the location of ODU, a large percentage of the cybersecurity major students are the minority, military-affiliated, and coming from low socioeconomic status and lack family support.</a:t>
              </a:r>
            </a:p>
          </p:txBody>
        </p:sp>
      </p:grpSp>
      <p:sp>
        <p:nvSpPr>
          <p:cNvPr id="30" name="Text Placeholder 2">
            <a:extLst>
              <a:ext uri="{FF2B5EF4-FFF2-40B4-BE49-F238E27FC236}">
                <a16:creationId xmlns:a16="http://schemas.microsoft.com/office/drawing/2014/main" id="{40DF2A81-AF99-18FB-CED8-A2E8F7A56D32}"/>
              </a:ext>
            </a:extLst>
          </p:cNvPr>
          <p:cNvSpPr txBox="1">
            <a:spLocks/>
          </p:cNvSpPr>
          <p:nvPr/>
        </p:nvSpPr>
        <p:spPr>
          <a:xfrm>
            <a:off x="14120939" y="16382125"/>
            <a:ext cx="15942208" cy="1015655"/>
          </a:xfrm>
          <a:prstGeom prst="rect">
            <a:avLst/>
          </a:prstGeom>
          <a:solidFill>
            <a:schemeClr val="accent1">
              <a:lumMod val="60000"/>
              <a:lumOff val="40000"/>
            </a:schemeClr>
          </a:solidFill>
        </p:spPr>
        <p:txBody>
          <a:bodyPr wrap="square" lIns="91436" tIns="91436" rIns="91436" bIns="91436" anchor="ctr" anchorCtr="0">
            <a:spAutoFit/>
          </a:bodyPr>
          <a:lstStyle>
            <a:defPPr>
              <a:defRPr lang="en-US"/>
            </a:defPPr>
            <a:lvl1pPr indent="0" algn="ctr">
              <a:spcBef>
                <a:spcPct val="20000"/>
              </a:spcBef>
              <a:buFont typeface="Arial" pitchFamily="34" charset="0"/>
              <a:buNone/>
              <a:defRPr sz="5400" b="1" u="sng" baseline="0"/>
            </a:lvl1pPr>
            <a:lvl2pPr marL="3565982" indent="-1371531">
              <a:spcBef>
                <a:spcPct val="20000"/>
              </a:spcBef>
              <a:buFont typeface="Arial" pitchFamily="34" charset="0"/>
              <a:buChar char="–"/>
              <a:defRPr sz="13500"/>
            </a:lvl2pPr>
            <a:lvl3pPr marL="5486126" indent="-1097226">
              <a:spcBef>
                <a:spcPct val="20000"/>
              </a:spcBef>
              <a:buFont typeface="Arial" pitchFamily="34" charset="0"/>
              <a:buChar char="•"/>
              <a:defRPr sz="11600"/>
            </a:lvl3pPr>
            <a:lvl4pPr marL="7680577" indent="-1097226">
              <a:spcBef>
                <a:spcPct val="20000"/>
              </a:spcBef>
              <a:buFont typeface="Arial" pitchFamily="34" charset="0"/>
              <a:buChar char="–"/>
              <a:defRPr sz="9600"/>
            </a:lvl4pPr>
            <a:lvl5pPr marL="9875026" indent="-1097226">
              <a:spcBef>
                <a:spcPct val="20000"/>
              </a:spcBef>
              <a:buFont typeface="Arial" pitchFamily="34" charset="0"/>
              <a:buChar char="»"/>
              <a:defRPr sz="9600"/>
            </a:lvl5pPr>
            <a:lvl6pPr marL="12069477" indent="-1097226">
              <a:spcBef>
                <a:spcPct val="20000"/>
              </a:spcBef>
              <a:buFont typeface="Arial" pitchFamily="34" charset="0"/>
              <a:buChar char="•"/>
              <a:defRPr sz="9600"/>
            </a:lvl6pPr>
            <a:lvl7pPr marL="14263926" indent="-1097226">
              <a:spcBef>
                <a:spcPct val="20000"/>
              </a:spcBef>
              <a:buFont typeface="Arial" pitchFamily="34" charset="0"/>
              <a:buChar char="•"/>
              <a:defRPr sz="9600"/>
            </a:lvl7pPr>
            <a:lvl8pPr marL="16458377" indent="-1097226">
              <a:spcBef>
                <a:spcPct val="20000"/>
              </a:spcBef>
              <a:buFont typeface="Arial" pitchFamily="34" charset="0"/>
              <a:buChar char="•"/>
              <a:defRPr sz="9600"/>
            </a:lvl8pPr>
            <a:lvl9pPr marL="18652827" indent="-1097226">
              <a:spcBef>
                <a:spcPct val="20000"/>
              </a:spcBef>
              <a:buFont typeface="Arial" pitchFamily="34" charset="0"/>
              <a:buChar char="•"/>
              <a:defRPr sz="9600"/>
            </a:lvl9pPr>
          </a:lstStyle>
          <a:p>
            <a:r>
              <a:rPr lang="en-US" dirty="0"/>
              <a:t>S-STEM Program @ ODU</a:t>
            </a:r>
          </a:p>
        </p:txBody>
      </p:sp>
      <p:sp>
        <p:nvSpPr>
          <p:cNvPr id="33" name="Text Placeholder 1">
            <a:extLst>
              <a:ext uri="{FF2B5EF4-FFF2-40B4-BE49-F238E27FC236}">
                <a16:creationId xmlns:a16="http://schemas.microsoft.com/office/drawing/2014/main" id="{0FB4B212-E161-B01D-D625-21B2C7B20561}"/>
              </a:ext>
            </a:extLst>
          </p:cNvPr>
          <p:cNvSpPr txBox="1">
            <a:spLocks/>
          </p:cNvSpPr>
          <p:nvPr/>
        </p:nvSpPr>
        <p:spPr>
          <a:xfrm>
            <a:off x="14162138" y="17550999"/>
            <a:ext cx="15876800" cy="4191895"/>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342900" indent="-342900" algn="just">
              <a:buFont typeface="Arial" pitchFamily="34" charset="0"/>
              <a:buChar char="•"/>
            </a:pPr>
            <a:r>
              <a:rPr lang="en-US" sz="3600" dirty="0">
                <a:solidFill>
                  <a:schemeClr val="tx1"/>
                </a:solidFill>
              </a:rPr>
              <a:t>To provide a comprehensive support to the cybersecurity students, including the critically needy scholarship and strong student support and service, to help them reduce risk and successfully complete their college education in cybersecurity. </a:t>
            </a:r>
          </a:p>
          <a:p>
            <a:pPr marL="342900" indent="-342900" algn="just">
              <a:buFont typeface="Arial" pitchFamily="34" charset="0"/>
              <a:buChar char="•"/>
            </a:pPr>
            <a:r>
              <a:rPr lang="en-US" sz="3600" dirty="0">
                <a:solidFill>
                  <a:schemeClr val="tx1"/>
                </a:solidFill>
              </a:rPr>
              <a:t>The support amount is $4,444 Fall and Spring, respectively, total $8,888 one year. </a:t>
            </a:r>
          </a:p>
          <a:p>
            <a:pPr marL="342900" indent="-342900" algn="just">
              <a:buFont typeface="Arial" pitchFamily="34" charset="0"/>
              <a:buChar char="•"/>
            </a:pPr>
            <a:r>
              <a:rPr lang="en-US" sz="3600" dirty="0">
                <a:solidFill>
                  <a:schemeClr val="tx1"/>
                </a:solidFill>
              </a:rPr>
              <a:t>Goal: Students should receive the Cybersecurity degree within five years. </a:t>
            </a:r>
          </a:p>
          <a:p>
            <a:pPr marL="342900" indent="-342900" algn="just">
              <a:buFont typeface="Arial" pitchFamily="34" charset="0"/>
              <a:buChar char="•"/>
            </a:pPr>
            <a:endParaRPr lang="en-US" sz="4000" dirty="0">
              <a:solidFill>
                <a:schemeClr val="tx1"/>
              </a:solidFill>
            </a:endParaRPr>
          </a:p>
        </p:txBody>
      </p:sp>
      <p:graphicFrame>
        <p:nvGraphicFramePr>
          <p:cNvPr id="35" name="Content Placeholder 2">
            <a:extLst>
              <a:ext uri="{FF2B5EF4-FFF2-40B4-BE49-F238E27FC236}">
                <a16:creationId xmlns:a16="http://schemas.microsoft.com/office/drawing/2014/main" id="{BD12EEAE-2BBB-8434-908B-E4F1CBDD9E7C}"/>
              </a:ext>
            </a:extLst>
          </p:cNvPr>
          <p:cNvGraphicFramePr>
            <a:graphicFrameLocks/>
          </p:cNvGraphicFramePr>
          <p:nvPr>
            <p:extLst>
              <p:ext uri="{D42A27DB-BD31-4B8C-83A1-F6EECF244321}">
                <p14:modId xmlns:p14="http://schemas.microsoft.com/office/powerpoint/2010/main" val="2736562071"/>
              </p:ext>
            </p:extLst>
          </p:nvPr>
        </p:nvGraphicFramePr>
        <p:xfrm>
          <a:off x="13728141" y="20863496"/>
          <a:ext cx="16322266" cy="458562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45" name="Content Placeholder 2">
            <a:extLst>
              <a:ext uri="{FF2B5EF4-FFF2-40B4-BE49-F238E27FC236}">
                <a16:creationId xmlns:a16="http://schemas.microsoft.com/office/drawing/2014/main" id="{7CB2BD73-802C-3D4B-083B-6DB36AE8F2CC}"/>
              </a:ext>
            </a:extLst>
          </p:cNvPr>
          <p:cNvGraphicFramePr>
            <a:graphicFrameLocks/>
          </p:cNvGraphicFramePr>
          <p:nvPr>
            <p:extLst>
              <p:ext uri="{D42A27DB-BD31-4B8C-83A1-F6EECF244321}">
                <p14:modId xmlns:p14="http://schemas.microsoft.com/office/powerpoint/2010/main" val="3999151769"/>
              </p:ext>
            </p:extLst>
          </p:nvPr>
        </p:nvGraphicFramePr>
        <p:xfrm>
          <a:off x="14097258" y="25621752"/>
          <a:ext cx="15876800" cy="541052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46" name="Text Placeholder 2">
            <a:extLst>
              <a:ext uri="{FF2B5EF4-FFF2-40B4-BE49-F238E27FC236}">
                <a16:creationId xmlns:a16="http://schemas.microsoft.com/office/drawing/2014/main" id="{F4EF4859-0468-F8D0-18A5-18C1B08F0F8E}"/>
              </a:ext>
            </a:extLst>
          </p:cNvPr>
          <p:cNvSpPr txBox="1">
            <a:spLocks/>
          </p:cNvSpPr>
          <p:nvPr/>
        </p:nvSpPr>
        <p:spPr>
          <a:xfrm>
            <a:off x="30284325" y="5632150"/>
            <a:ext cx="13062745" cy="1015656"/>
          </a:xfrm>
          <a:prstGeom prst="rect">
            <a:avLst/>
          </a:prstGeom>
          <a:solidFill>
            <a:schemeClr val="accent1">
              <a:lumMod val="60000"/>
              <a:lumOff val="40000"/>
            </a:schemeClr>
          </a:solidFill>
        </p:spPr>
        <p:txBody>
          <a:bodyPr wrap="square" lIns="91436" tIns="91436" rIns="91436" bIns="91436" anchor="ctr" anchorCtr="0">
            <a:spAutoFit/>
          </a:bodyPr>
          <a:lstStyle>
            <a:defPPr>
              <a:defRPr lang="en-US"/>
            </a:defPPr>
            <a:lvl1pPr indent="0" algn="ctr">
              <a:spcBef>
                <a:spcPct val="20000"/>
              </a:spcBef>
              <a:buFont typeface="Arial" pitchFamily="34" charset="0"/>
              <a:buNone/>
              <a:defRPr sz="5400" b="1" u="sng" baseline="0"/>
            </a:lvl1pPr>
            <a:lvl2pPr marL="3565982" indent="-1371531">
              <a:spcBef>
                <a:spcPct val="20000"/>
              </a:spcBef>
              <a:buFont typeface="Arial" pitchFamily="34" charset="0"/>
              <a:buChar char="–"/>
              <a:defRPr sz="13500"/>
            </a:lvl2pPr>
            <a:lvl3pPr marL="5486126" indent="-1097226">
              <a:spcBef>
                <a:spcPct val="20000"/>
              </a:spcBef>
              <a:buFont typeface="Arial" pitchFamily="34" charset="0"/>
              <a:buChar char="•"/>
              <a:defRPr sz="11600"/>
            </a:lvl3pPr>
            <a:lvl4pPr marL="7680577" indent="-1097226">
              <a:spcBef>
                <a:spcPct val="20000"/>
              </a:spcBef>
              <a:buFont typeface="Arial" pitchFamily="34" charset="0"/>
              <a:buChar char="–"/>
              <a:defRPr sz="9600"/>
            </a:lvl4pPr>
            <a:lvl5pPr marL="9875026" indent="-1097226">
              <a:spcBef>
                <a:spcPct val="20000"/>
              </a:spcBef>
              <a:buFont typeface="Arial" pitchFamily="34" charset="0"/>
              <a:buChar char="»"/>
              <a:defRPr sz="9600"/>
            </a:lvl5pPr>
            <a:lvl6pPr marL="12069477" indent="-1097226">
              <a:spcBef>
                <a:spcPct val="20000"/>
              </a:spcBef>
              <a:buFont typeface="Arial" pitchFamily="34" charset="0"/>
              <a:buChar char="•"/>
              <a:defRPr sz="9600"/>
            </a:lvl6pPr>
            <a:lvl7pPr marL="14263926" indent="-1097226">
              <a:spcBef>
                <a:spcPct val="20000"/>
              </a:spcBef>
              <a:buFont typeface="Arial" pitchFamily="34" charset="0"/>
              <a:buChar char="•"/>
              <a:defRPr sz="9600"/>
            </a:lvl7pPr>
            <a:lvl8pPr marL="16458377" indent="-1097226">
              <a:spcBef>
                <a:spcPct val="20000"/>
              </a:spcBef>
              <a:buFont typeface="Arial" pitchFamily="34" charset="0"/>
              <a:buChar char="•"/>
              <a:defRPr sz="9600"/>
            </a:lvl8pPr>
            <a:lvl9pPr marL="18652827" indent="-1097226">
              <a:spcBef>
                <a:spcPct val="20000"/>
              </a:spcBef>
              <a:buFont typeface="Arial" pitchFamily="34" charset="0"/>
              <a:buChar char="•"/>
              <a:defRPr sz="9600"/>
            </a:lvl9pPr>
          </a:lstStyle>
          <a:p>
            <a:r>
              <a:rPr lang="en-US" dirty="0"/>
              <a:t>Who are our supported students?  </a:t>
            </a:r>
          </a:p>
        </p:txBody>
      </p:sp>
      <p:sp>
        <p:nvSpPr>
          <p:cNvPr id="28" name="Text Placeholder 2">
            <a:extLst>
              <a:ext uri="{FF2B5EF4-FFF2-40B4-BE49-F238E27FC236}">
                <a16:creationId xmlns:a16="http://schemas.microsoft.com/office/drawing/2014/main" id="{8451B166-4C05-DEA8-3AE3-8D2EA8C45434}"/>
              </a:ext>
            </a:extLst>
          </p:cNvPr>
          <p:cNvSpPr txBox="1">
            <a:spLocks/>
          </p:cNvSpPr>
          <p:nvPr/>
        </p:nvSpPr>
        <p:spPr>
          <a:xfrm>
            <a:off x="30315691" y="15809773"/>
            <a:ext cx="13062745" cy="1015656"/>
          </a:xfrm>
          <a:prstGeom prst="rect">
            <a:avLst/>
          </a:prstGeom>
          <a:solidFill>
            <a:schemeClr val="accent1">
              <a:lumMod val="60000"/>
              <a:lumOff val="40000"/>
            </a:schemeClr>
          </a:solidFill>
        </p:spPr>
        <p:txBody>
          <a:bodyPr wrap="square" lIns="91436" tIns="91436" rIns="91436" bIns="91436" anchor="ctr" anchorCtr="0">
            <a:spAutoFit/>
          </a:bodyPr>
          <a:lstStyle>
            <a:defPPr>
              <a:defRPr lang="en-US"/>
            </a:defPPr>
            <a:lvl1pPr indent="0" algn="ctr">
              <a:spcBef>
                <a:spcPct val="20000"/>
              </a:spcBef>
              <a:buFont typeface="Arial" pitchFamily="34" charset="0"/>
              <a:buNone/>
              <a:defRPr sz="5400" b="1" u="sng" baseline="0"/>
            </a:lvl1pPr>
            <a:lvl2pPr marL="3565982" indent="-1371531">
              <a:spcBef>
                <a:spcPct val="20000"/>
              </a:spcBef>
              <a:buFont typeface="Arial" pitchFamily="34" charset="0"/>
              <a:buChar char="–"/>
              <a:defRPr sz="13500"/>
            </a:lvl2pPr>
            <a:lvl3pPr marL="5486126" indent="-1097226">
              <a:spcBef>
                <a:spcPct val="20000"/>
              </a:spcBef>
              <a:buFont typeface="Arial" pitchFamily="34" charset="0"/>
              <a:buChar char="•"/>
              <a:defRPr sz="11600"/>
            </a:lvl3pPr>
            <a:lvl4pPr marL="7680577" indent="-1097226">
              <a:spcBef>
                <a:spcPct val="20000"/>
              </a:spcBef>
              <a:buFont typeface="Arial" pitchFamily="34" charset="0"/>
              <a:buChar char="–"/>
              <a:defRPr sz="9600"/>
            </a:lvl4pPr>
            <a:lvl5pPr marL="9875026" indent="-1097226">
              <a:spcBef>
                <a:spcPct val="20000"/>
              </a:spcBef>
              <a:buFont typeface="Arial" pitchFamily="34" charset="0"/>
              <a:buChar char="»"/>
              <a:defRPr sz="9600"/>
            </a:lvl5pPr>
            <a:lvl6pPr marL="12069477" indent="-1097226">
              <a:spcBef>
                <a:spcPct val="20000"/>
              </a:spcBef>
              <a:buFont typeface="Arial" pitchFamily="34" charset="0"/>
              <a:buChar char="•"/>
              <a:defRPr sz="9600"/>
            </a:lvl6pPr>
            <a:lvl7pPr marL="14263926" indent="-1097226">
              <a:spcBef>
                <a:spcPct val="20000"/>
              </a:spcBef>
              <a:buFont typeface="Arial" pitchFamily="34" charset="0"/>
              <a:buChar char="•"/>
              <a:defRPr sz="9600"/>
            </a:lvl7pPr>
            <a:lvl8pPr marL="16458377" indent="-1097226">
              <a:spcBef>
                <a:spcPct val="20000"/>
              </a:spcBef>
              <a:buFont typeface="Arial" pitchFamily="34" charset="0"/>
              <a:buChar char="•"/>
              <a:defRPr sz="9600"/>
            </a:lvl8pPr>
            <a:lvl9pPr marL="18652827" indent="-1097226">
              <a:spcBef>
                <a:spcPct val="20000"/>
              </a:spcBef>
              <a:buFont typeface="Arial" pitchFamily="34" charset="0"/>
              <a:buChar char="•"/>
              <a:defRPr sz="9600"/>
            </a:lvl9pPr>
          </a:lstStyle>
          <a:p>
            <a:r>
              <a:rPr lang="en-US" dirty="0"/>
              <a:t>Program Outcome</a:t>
            </a:r>
          </a:p>
        </p:txBody>
      </p:sp>
      <p:graphicFrame>
        <p:nvGraphicFramePr>
          <p:cNvPr id="4" name="Chart 3">
            <a:extLst>
              <a:ext uri="{FF2B5EF4-FFF2-40B4-BE49-F238E27FC236}">
                <a16:creationId xmlns:a16="http://schemas.microsoft.com/office/drawing/2014/main" id="{A35BD9D6-4CB1-4059-4437-FE3EEBC2FA35}"/>
              </a:ext>
            </a:extLst>
          </p:cNvPr>
          <p:cNvGraphicFramePr>
            <a:graphicFrameLocks/>
          </p:cNvGraphicFramePr>
          <p:nvPr>
            <p:extLst>
              <p:ext uri="{D42A27DB-BD31-4B8C-83A1-F6EECF244321}">
                <p14:modId xmlns:p14="http://schemas.microsoft.com/office/powerpoint/2010/main" val="642497183"/>
              </p:ext>
            </p:extLst>
          </p:nvPr>
        </p:nvGraphicFramePr>
        <p:xfrm>
          <a:off x="30759794" y="19023561"/>
          <a:ext cx="11993425" cy="5364755"/>
        </p:xfrm>
        <a:graphic>
          <a:graphicData uri="http://schemas.openxmlformats.org/drawingml/2006/chart">
            <c:chart xmlns:c="http://schemas.openxmlformats.org/drawingml/2006/chart" xmlns:r="http://schemas.openxmlformats.org/officeDocument/2006/relationships" r:id="rId17"/>
          </a:graphicData>
        </a:graphic>
      </p:graphicFrame>
      <p:grpSp>
        <p:nvGrpSpPr>
          <p:cNvPr id="48" name="Group 47">
            <a:extLst>
              <a:ext uri="{FF2B5EF4-FFF2-40B4-BE49-F238E27FC236}">
                <a16:creationId xmlns:a16="http://schemas.microsoft.com/office/drawing/2014/main" id="{5F46E960-8338-451B-C052-C473CF71C357}"/>
              </a:ext>
            </a:extLst>
          </p:cNvPr>
          <p:cNvGrpSpPr/>
          <p:nvPr/>
        </p:nvGrpSpPr>
        <p:grpSpPr>
          <a:xfrm>
            <a:off x="30135311" y="8976963"/>
            <a:ext cx="12937888" cy="6740600"/>
            <a:chOff x="30365747" y="6518485"/>
            <a:chExt cx="12937888" cy="7540596"/>
          </a:xfrm>
        </p:grpSpPr>
        <p:graphicFrame>
          <p:nvGraphicFramePr>
            <p:cNvPr id="9" name="Chart 8">
              <a:extLst>
                <a:ext uri="{FF2B5EF4-FFF2-40B4-BE49-F238E27FC236}">
                  <a16:creationId xmlns:a16="http://schemas.microsoft.com/office/drawing/2014/main" id="{2DA0B368-4DD5-BB18-B8B7-93A0DB42BB78}"/>
                </a:ext>
              </a:extLst>
            </p:cNvPr>
            <p:cNvGraphicFramePr>
              <a:graphicFrameLocks/>
            </p:cNvGraphicFramePr>
            <p:nvPr>
              <p:extLst>
                <p:ext uri="{D42A27DB-BD31-4B8C-83A1-F6EECF244321}">
                  <p14:modId xmlns:p14="http://schemas.microsoft.com/office/powerpoint/2010/main" val="3787337507"/>
                </p:ext>
              </p:extLst>
            </p:nvPr>
          </p:nvGraphicFramePr>
          <p:xfrm>
            <a:off x="30365747" y="6518485"/>
            <a:ext cx="6871914" cy="7355105"/>
          </p:xfrm>
          <a:graphic>
            <a:graphicData uri="http://schemas.openxmlformats.org/drawingml/2006/chart">
              <c:chart xmlns:c="http://schemas.openxmlformats.org/drawingml/2006/chart" xmlns:r="http://schemas.openxmlformats.org/officeDocument/2006/relationships" r:id="rId18"/>
            </a:graphicData>
          </a:graphic>
        </p:graphicFrame>
        <p:graphicFrame>
          <p:nvGraphicFramePr>
            <p:cNvPr id="31" name="Chart 30">
              <a:extLst>
                <a:ext uri="{FF2B5EF4-FFF2-40B4-BE49-F238E27FC236}">
                  <a16:creationId xmlns:a16="http://schemas.microsoft.com/office/drawing/2014/main" id="{79611FA8-2101-C070-63C8-232D2655A420}"/>
                </a:ext>
              </a:extLst>
            </p:cNvPr>
            <p:cNvGraphicFramePr>
              <a:graphicFrameLocks/>
            </p:cNvGraphicFramePr>
            <p:nvPr>
              <p:extLst>
                <p:ext uri="{D42A27DB-BD31-4B8C-83A1-F6EECF244321}">
                  <p14:modId xmlns:p14="http://schemas.microsoft.com/office/powerpoint/2010/main" val="38256198"/>
                </p:ext>
              </p:extLst>
            </p:nvPr>
          </p:nvGraphicFramePr>
          <p:xfrm>
            <a:off x="37237661" y="6518486"/>
            <a:ext cx="6065974" cy="7540595"/>
          </p:xfrm>
          <a:graphic>
            <a:graphicData uri="http://schemas.openxmlformats.org/drawingml/2006/chart">
              <c:chart xmlns:c="http://schemas.openxmlformats.org/drawingml/2006/chart" xmlns:r="http://schemas.openxmlformats.org/officeDocument/2006/relationships" r:id="rId19"/>
            </a:graphicData>
          </a:graphic>
        </p:graphicFrame>
      </p:grpSp>
      <p:sp>
        <p:nvSpPr>
          <p:cNvPr id="63" name="Rectangle 62">
            <a:extLst>
              <a:ext uri="{FF2B5EF4-FFF2-40B4-BE49-F238E27FC236}">
                <a16:creationId xmlns:a16="http://schemas.microsoft.com/office/drawing/2014/main" id="{FB4372BE-7A33-A209-F692-E47EEF1E7557}"/>
              </a:ext>
            </a:extLst>
          </p:cNvPr>
          <p:cNvSpPr/>
          <p:nvPr/>
        </p:nvSpPr>
        <p:spPr>
          <a:xfrm>
            <a:off x="39214425" y="25832525"/>
            <a:ext cx="3964685" cy="4287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0"/>
          </a:p>
        </p:txBody>
      </p:sp>
      <p:graphicFrame>
        <p:nvGraphicFramePr>
          <p:cNvPr id="52" name="Table 51">
            <a:extLst>
              <a:ext uri="{FF2B5EF4-FFF2-40B4-BE49-F238E27FC236}">
                <a16:creationId xmlns:a16="http://schemas.microsoft.com/office/drawing/2014/main" id="{E19499B1-677B-FE20-0384-A375FBB7E0B3}"/>
              </a:ext>
            </a:extLst>
          </p:cNvPr>
          <p:cNvGraphicFramePr>
            <a:graphicFrameLocks noGrp="1"/>
          </p:cNvGraphicFramePr>
          <p:nvPr>
            <p:extLst>
              <p:ext uri="{D42A27DB-BD31-4B8C-83A1-F6EECF244321}">
                <p14:modId xmlns:p14="http://schemas.microsoft.com/office/powerpoint/2010/main" val="1064046763"/>
              </p:ext>
            </p:extLst>
          </p:nvPr>
        </p:nvGraphicFramePr>
        <p:xfrm>
          <a:off x="39905676" y="25824567"/>
          <a:ext cx="3338863" cy="4221534"/>
        </p:xfrm>
        <a:graphic>
          <a:graphicData uri="http://schemas.openxmlformats.org/drawingml/2006/table">
            <a:tbl>
              <a:tblPr>
                <a:tableStyleId>{5C22544A-7EE6-4342-B048-85BDC9FD1C3A}</a:tableStyleId>
              </a:tblPr>
              <a:tblGrid>
                <a:gridCol w="3338863">
                  <a:extLst>
                    <a:ext uri="{9D8B030D-6E8A-4147-A177-3AD203B41FA5}">
                      <a16:colId xmlns:a16="http://schemas.microsoft.com/office/drawing/2014/main" val="2931411112"/>
                    </a:ext>
                  </a:extLst>
                </a:gridCol>
              </a:tblGrid>
              <a:tr h="471087">
                <a:tc>
                  <a:txBody>
                    <a:bodyPr/>
                    <a:lstStyle/>
                    <a:p>
                      <a:pPr algn="l" fontAlgn="b"/>
                      <a:r>
                        <a:rPr lang="en-US" sz="3000" kern="1200" dirty="0">
                          <a:solidFill>
                            <a:schemeClr val="tx1"/>
                          </a:solidFill>
                          <a:latin typeface="Times New Roman" panose="02020603050405020304" pitchFamily="18" charset="0"/>
                          <a:ea typeface="+mn-ea"/>
                          <a:cs typeface="Times New Roman" panose="02020603050405020304" pitchFamily="18" charset="0"/>
                        </a:rPr>
                        <a:t>Cyber Competition</a:t>
                      </a:r>
                    </a:p>
                    <a:p>
                      <a:pPr algn="l" fontAlgn="b"/>
                      <a:r>
                        <a:rPr lang="en-US" sz="3000" kern="1200" dirty="0">
                          <a:solidFill>
                            <a:schemeClr val="tx1"/>
                          </a:solidFill>
                          <a:latin typeface="Times New Roman" panose="02020603050405020304" pitchFamily="18" charset="0"/>
                          <a:ea typeface="+mn-ea"/>
                          <a:cs typeface="Times New Roman" panose="02020603050405020304" pitchFamily="18" charset="0"/>
                        </a:rPr>
                        <a:t>Academic Support </a:t>
                      </a:r>
                    </a:p>
                  </a:txBody>
                  <a:tcPr marL="9525" marR="9525" marT="9525" marB="0" anchor="b">
                    <a:solidFill>
                      <a:srgbClr val="FFFFFF"/>
                    </a:solidFill>
                  </a:tcPr>
                </a:tc>
                <a:extLst>
                  <a:ext uri="{0D108BD9-81ED-4DB2-BD59-A6C34878D82A}">
                    <a16:rowId xmlns:a16="http://schemas.microsoft.com/office/drawing/2014/main" val="715762855"/>
                  </a:ext>
                </a:extLst>
              </a:tr>
              <a:tr h="471087">
                <a:tc>
                  <a:txBody>
                    <a:bodyPr/>
                    <a:lstStyle/>
                    <a:p>
                      <a:pPr algn="l" fontAlgn="b"/>
                      <a:r>
                        <a:rPr lang="en-US" sz="3000" kern="1200" dirty="0">
                          <a:solidFill>
                            <a:schemeClr val="tx1"/>
                          </a:solidFill>
                          <a:latin typeface="Times New Roman" panose="02020603050405020304" pitchFamily="18" charset="0"/>
                          <a:ea typeface="+mn-ea"/>
                          <a:cs typeface="Times New Roman" panose="02020603050405020304" pitchFamily="18" charset="0"/>
                        </a:rPr>
                        <a:t>Career Counseling </a:t>
                      </a:r>
                    </a:p>
                  </a:txBody>
                  <a:tcPr marL="9525" marR="9525" marT="9525" marB="0" anchor="b">
                    <a:solidFill>
                      <a:srgbClr val="FFFFFF"/>
                    </a:solidFill>
                  </a:tcPr>
                </a:tc>
                <a:extLst>
                  <a:ext uri="{0D108BD9-81ED-4DB2-BD59-A6C34878D82A}">
                    <a16:rowId xmlns:a16="http://schemas.microsoft.com/office/drawing/2014/main" val="3918231328"/>
                  </a:ext>
                </a:extLst>
              </a:tr>
              <a:tr h="471087">
                <a:tc>
                  <a:txBody>
                    <a:bodyPr/>
                    <a:lstStyle/>
                    <a:p>
                      <a:pPr algn="l" fontAlgn="b"/>
                      <a:r>
                        <a:rPr lang="en-US" sz="3000" kern="1200" dirty="0">
                          <a:solidFill>
                            <a:schemeClr val="tx1"/>
                          </a:solidFill>
                          <a:latin typeface="Times New Roman" panose="02020603050405020304" pitchFamily="18" charset="0"/>
                          <a:ea typeface="+mn-ea"/>
                          <a:cs typeface="Times New Roman" panose="02020603050405020304" pitchFamily="18" charset="0"/>
                        </a:rPr>
                        <a:t>Peer Mentoring</a:t>
                      </a:r>
                    </a:p>
                  </a:txBody>
                  <a:tcPr marL="9525" marR="9525" marT="9525" marB="0" anchor="b">
                    <a:solidFill>
                      <a:srgbClr val="FFFFFF"/>
                    </a:solidFill>
                  </a:tcPr>
                </a:tc>
                <a:extLst>
                  <a:ext uri="{0D108BD9-81ED-4DB2-BD59-A6C34878D82A}">
                    <a16:rowId xmlns:a16="http://schemas.microsoft.com/office/drawing/2014/main" val="3332888900"/>
                  </a:ext>
                </a:extLst>
              </a:tr>
              <a:tr h="471087">
                <a:tc>
                  <a:txBody>
                    <a:bodyPr/>
                    <a:lstStyle/>
                    <a:p>
                      <a:pPr algn="l" fontAlgn="b"/>
                      <a:r>
                        <a:rPr lang="en-US" sz="3000" kern="1200" dirty="0">
                          <a:solidFill>
                            <a:schemeClr val="tx1"/>
                          </a:solidFill>
                          <a:latin typeface="Times New Roman" panose="02020603050405020304" pitchFamily="18" charset="0"/>
                          <a:ea typeface="+mn-ea"/>
                          <a:cs typeface="Times New Roman" panose="02020603050405020304" pitchFamily="18" charset="0"/>
                        </a:rPr>
                        <a:t>Seminars</a:t>
                      </a:r>
                    </a:p>
                  </a:txBody>
                  <a:tcPr marL="9525" marR="9525" marT="9525" marB="0" anchor="b">
                    <a:solidFill>
                      <a:srgbClr val="FFFFFF"/>
                    </a:solidFill>
                  </a:tcPr>
                </a:tc>
                <a:extLst>
                  <a:ext uri="{0D108BD9-81ED-4DB2-BD59-A6C34878D82A}">
                    <a16:rowId xmlns:a16="http://schemas.microsoft.com/office/drawing/2014/main" val="1891999370"/>
                  </a:ext>
                </a:extLst>
              </a:tr>
              <a:tr h="471087">
                <a:tc>
                  <a:txBody>
                    <a:bodyPr/>
                    <a:lstStyle/>
                    <a:p>
                      <a:pPr algn="l" fontAlgn="b"/>
                      <a:r>
                        <a:rPr lang="en-US" sz="3000" kern="1200" dirty="0">
                          <a:solidFill>
                            <a:schemeClr val="tx1"/>
                          </a:solidFill>
                          <a:latin typeface="Times New Roman" panose="02020603050405020304" pitchFamily="18" charset="0"/>
                          <a:ea typeface="+mn-ea"/>
                          <a:cs typeface="Times New Roman" panose="02020603050405020304" pitchFamily="18" charset="0"/>
                        </a:rPr>
                        <a:t>Field Trips</a:t>
                      </a:r>
                    </a:p>
                  </a:txBody>
                  <a:tcPr marL="9525" marR="9525" marT="9525" marB="0" anchor="b">
                    <a:solidFill>
                      <a:srgbClr val="FFFFFF"/>
                    </a:solidFill>
                  </a:tcPr>
                </a:tc>
                <a:extLst>
                  <a:ext uri="{0D108BD9-81ED-4DB2-BD59-A6C34878D82A}">
                    <a16:rowId xmlns:a16="http://schemas.microsoft.com/office/drawing/2014/main" val="2811105273"/>
                  </a:ext>
                </a:extLst>
              </a:tr>
              <a:tr h="471087">
                <a:tc>
                  <a:txBody>
                    <a:bodyPr/>
                    <a:lstStyle/>
                    <a:p>
                      <a:pPr algn="l" fontAlgn="b"/>
                      <a:r>
                        <a:rPr lang="en-US" sz="3000" kern="1200" dirty="0">
                          <a:solidFill>
                            <a:schemeClr val="tx1"/>
                          </a:solidFill>
                          <a:latin typeface="Times New Roman" panose="02020603050405020304" pitchFamily="18" charset="0"/>
                          <a:ea typeface="+mn-ea"/>
                          <a:cs typeface="Times New Roman" panose="02020603050405020304" pitchFamily="18" charset="0"/>
                        </a:rPr>
                        <a:t>Conferences</a:t>
                      </a:r>
                    </a:p>
                  </a:txBody>
                  <a:tcPr marL="9525" marR="9525" marT="9525" marB="0" anchor="b">
                    <a:solidFill>
                      <a:srgbClr val="FFFFFF"/>
                    </a:solidFill>
                  </a:tcPr>
                </a:tc>
                <a:extLst>
                  <a:ext uri="{0D108BD9-81ED-4DB2-BD59-A6C34878D82A}">
                    <a16:rowId xmlns:a16="http://schemas.microsoft.com/office/drawing/2014/main" val="4052432735"/>
                  </a:ext>
                </a:extLst>
              </a:tr>
              <a:tr h="471087">
                <a:tc>
                  <a:txBody>
                    <a:bodyPr/>
                    <a:lstStyle/>
                    <a:p>
                      <a:pPr algn="l" fontAlgn="b"/>
                      <a:r>
                        <a:rPr lang="en-US" sz="3000" kern="1200" dirty="0">
                          <a:solidFill>
                            <a:schemeClr val="tx1"/>
                          </a:solidFill>
                          <a:latin typeface="Times New Roman" panose="02020603050405020304" pitchFamily="18" charset="0"/>
                          <a:ea typeface="+mn-ea"/>
                          <a:cs typeface="Times New Roman" panose="02020603050405020304" pitchFamily="18" charset="0"/>
                        </a:rPr>
                        <a:t>Internships</a:t>
                      </a:r>
                    </a:p>
                  </a:txBody>
                  <a:tcPr marL="9525" marR="9525" marT="9525" marB="0" anchor="b">
                    <a:solidFill>
                      <a:srgbClr val="FFFFFF"/>
                    </a:solidFill>
                  </a:tcPr>
                </a:tc>
                <a:extLst>
                  <a:ext uri="{0D108BD9-81ED-4DB2-BD59-A6C34878D82A}">
                    <a16:rowId xmlns:a16="http://schemas.microsoft.com/office/drawing/2014/main" val="3309676133"/>
                  </a:ext>
                </a:extLst>
              </a:tr>
              <a:tr h="471087">
                <a:tc>
                  <a:txBody>
                    <a:bodyPr/>
                    <a:lstStyle/>
                    <a:p>
                      <a:pPr algn="l" fontAlgn="b"/>
                      <a:r>
                        <a:rPr lang="en-US" sz="3000" kern="1200" dirty="0">
                          <a:solidFill>
                            <a:schemeClr val="tx1"/>
                          </a:solidFill>
                          <a:latin typeface="Times New Roman" panose="02020603050405020304" pitchFamily="18" charset="0"/>
                          <a:ea typeface="+mn-ea"/>
                          <a:cs typeface="Times New Roman" panose="02020603050405020304" pitchFamily="18" charset="0"/>
                        </a:rPr>
                        <a:t>Research </a:t>
                      </a:r>
                    </a:p>
                  </a:txBody>
                  <a:tcPr marL="9525" marR="9525" marT="9525" marB="0" anchor="b">
                    <a:solidFill>
                      <a:srgbClr val="FFFFFF"/>
                    </a:solidFill>
                  </a:tcPr>
                </a:tc>
                <a:extLst>
                  <a:ext uri="{0D108BD9-81ED-4DB2-BD59-A6C34878D82A}">
                    <a16:rowId xmlns:a16="http://schemas.microsoft.com/office/drawing/2014/main" val="4183543283"/>
                  </a:ext>
                </a:extLst>
              </a:tr>
            </a:tbl>
          </a:graphicData>
        </a:graphic>
      </p:graphicFrame>
      <p:sp>
        <p:nvSpPr>
          <p:cNvPr id="65" name="Text Placeholder 1">
            <a:extLst>
              <a:ext uri="{FF2B5EF4-FFF2-40B4-BE49-F238E27FC236}">
                <a16:creationId xmlns:a16="http://schemas.microsoft.com/office/drawing/2014/main" id="{F3C2B20F-7877-34E9-A76C-82E7581D92DB}"/>
              </a:ext>
            </a:extLst>
          </p:cNvPr>
          <p:cNvSpPr txBox="1">
            <a:spLocks/>
          </p:cNvSpPr>
          <p:nvPr/>
        </p:nvSpPr>
        <p:spPr>
          <a:xfrm>
            <a:off x="30176978" y="6712445"/>
            <a:ext cx="13233367" cy="2677634"/>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342900" indent="-342900" algn="just">
              <a:buFont typeface="Arial" pitchFamily="34" charset="0"/>
              <a:buChar char="•"/>
            </a:pPr>
            <a:r>
              <a:rPr lang="en-US" sz="3600" dirty="0">
                <a:solidFill>
                  <a:schemeClr val="tx1"/>
                </a:solidFill>
              </a:rPr>
              <a:t>S-STEM @ ODU encourages the participation of underrepresented minority students in the much-needed STEM field, given the fact that more than half of our cybersecurity students are from underrepresented minority groups.  </a:t>
            </a:r>
          </a:p>
        </p:txBody>
      </p:sp>
      <p:sp>
        <p:nvSpPr>
          <p:cNvPr id="68" name="Text Placeholder 1">
            <a:extLst>
              <a:ext uri="{FF2B5EF4-FFF2-40B4-BE49-F238E27FC236}">
                <a16:creationId xmlns:a16="http://schemas.microsoft.com/office/drawing/2014/main" id="{D65DF6C4-444A-F8F8-C082-24585E52DF54}"/>
              </a:ext>
            </a:extLst>
          </p:cNvPr>
          <p:cNvSpPr txBox="1">
            <a:spLocks/>
          </p:cNvSpPr>
          <p:nvPr/>
        </p:nvSpPr>
        <p:spPr>
          <a:xfrm>
            <a:off x="30192902" y="24055092"/>
            <a:ext cx="13024122" cy="2123636"/>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342900" indent="-342900" algn="just">
              <a:buFont typeface="Arial" pitchFamily="34" charset="0"/>
              <a:buChar char="•"/>
            </a:pPr>
            <a:r>
              <a:rPr lang="en-US" sz="3600" dirty="0">
                <a:solidFill>
                  <a:schemeClr val="tx1"/>
                </a:solidFill>
              </a:rPr>
              <a:t>More than 90% of supported students attended Cybersecurity Competition, Academic Support services and Career Counseling at the supported terms. </a:t>
            </a:r>
          </a:p>
        </p:txBody>
      </p:sp>
      <p:sp>
        <p:nvSpPr>
          <p:cNvPr id="69" name="Text Placeholder 1">
            <a:extLst>
              <a:ext uri="{FF2B5EF4-FFF2-40B4-BE49-F238E27FC236}">
                <a16:creationId xmlns:a16="http://schemas.microsoft.com/office/drawing/2014/main" id="{857C7073-B6FB-E9D3-77BE-2DFF565F881B}"/>
              </a:ext>
            </a:extLst>
          </p:cNvPr>
          <p:cNvSpPr txBox="1">
            <a:spLocks/>
          </p:cNvSpPr>
          <p:nvPr/>
        </p:nvSpPr>
        <p:spPr>
          <a:xfrm>
            <a:off x="30221052" y="16921564"/>
            <a:ext cx="13024122" cy="2123636"/>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342900" indent="-342900" algn="just">
              <a:buFont typeface="Arial" pitchFamily="34" charset="0"/>
              <a:buChar char="•"/>
            </a:pPr>
            <a:r>
              <a:rPr lang="en-US" sz="3600" dirty="0">
                <a:solidFill>
                  <a:schemeClr val="tx1"/>
                </a:solidFill>
              </a:rPr>
              <a:t>More than 40% of our supported students maintained a 4.0 GPA in each supported semester. 95% of supported students maintained an average 3.25 GPA per supported semester.  </a:t>
            </a:r>
          </a:p>
        </p:txBody>
      </p:sp>
      <p:grpSp>
        <p:nvGrpSpPr>
          <p:cNvPr id="74" name="Group 73">
            <a:extLst>
              <a:ext uri="{FF2B5EF4-FFF2-40B4-BE49-F238E27FC236}">
                <a16:creationId xmlns:a16="http://schemas.microsoft.com/office/drawing/2014/main" id="{18940B55-B49F-C9E2-BF51-06E9BE25F46C}"/>
              </a:ext>
            </a:extLst>
          </p:cNvPr>
          <p:cNvGrpSpPr/>
          <p:nvPr/>
        </p:nvGrpSpPr>
        <p:grpSpPr>
          <a:xfrm>
            <a:off x="39627319" y="25961804"/>
            <a:ext cx="231015" cy="3974225"/>
            <a:chOff x="39341970" y="25693897"/>
            <a:chExt cx="231015" cy="3974225"/>
          </a:xfrm>
        </p:grpSpPr>
        <p:grpSp>
          <p:nvGrpSpPr>
            <p:cNvPr id="72" name="Group 71">
              <a:extLst>
                <a:ext uri="{FF2B5EF4-FFF2-40B4-BE49-F238E27FC236}">
                  <a16:creationId xmlns:a16="http://schemas.microsoft.com/office/drawing/2014/main" id="{D5CDE777-36F3-4B68-29A0-806DC38C1A88}"/>
                </a:ext>
              </a:extLst>
            </p:cNvPr>
            <p:cNvGrpSpPr/>
            <p:nvPr/>
          </p:nvGrpSpPr>
          <p:grpSpPr>
            <a:xfrm>
              <a:off x="39341970" y="26207653"/>
              <a:ext cx="231015" cy="3460469"/>
              <a:chOff x="39341970" y="26207653"/>
              <a:chExt cx="231015" cy="3460469"/>
            </a:xfrm>
          </p:grpSpPr>
          <p:sp>
            <p:nvSpPr>
              <p:cNvPr id="53" name="Rectangle 52">
                <a:extLst>
                  <a:ext uri="{FF2B5EF4-FFF2-40B4-BE49-F238E27FC236}">
                    <a16:creationId xmlns:a16="http://schemas.microsoft.com/office/drawing/2014/main" id="{26D1522F-C7FA-E1F5-E386-48D2AF2F993F}"/>
                  </a:ext>
                </a:extLst>
              </p:cNvPr>
              <p:cNvSpPr/>
              <p:nvPr/>
            </p:nvSpPr>
            <p:spPr>
              <a:xfrm>
                <a:off x="39344385" y="26207653"/>
                <a:ext cx="228600" cy="228600"/>
              </a:xfrm>
              <a:prstGeom prst="rect">
                <a:avLst/>
              </a:prstGeom>
              <a:solidFill>
                <a:srgbClr val="67A3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9BFAED97-1147-A37D-EA61-9017E777EB9C}"/>
                  </a:ext>
                </a:extLst>
              </p:cNvPr>
              <p:cNvSpPr/>
              <p:nvPr/>
            </p:nvSpPr>
            <p:spPr>
              <a:xfrm>
                <a:off x="39344385" y="26662399"/>
                <a:ext cx="228600" cy="228600"/>
              </a:xfrm>
              <a:prstGeom prst="rect">
                <a:avLst/>
              </a:prstGeom>
              <a:solidFill>
                <a:srgbClr val="78B2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FB2E5CD9-F4D8-7C3E-96C2-4EA31E603CD8}"/>
                  </a:ext>
                </a:extLst>
              </p:cNvPr>
              <p:cNvSpPr/>
              <p:nvPr/>
            </p:nvSpPr>
            <p:spPr>
              <a:xfrm>
                <a:off x="39341970" y="27088358"/>
                <a:ext cx="228600" cy="228600"/>
              </a:xfrm>
              <a:prstGeom prst="rect">
                <a:avLst/>
              </a:prstGeom>
              <a:solidFill>
                <a:srgbClr val="AE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B442F822-2A4A-6DAE-DAFE-10812ACEA050}"/>
                  </a:ext>
                </a:extLst>
              </p:cNvPr>
              <p:cNvSpPr/>
              <p:nvPr/>
            </p:nvSpPr>
            <p:spPr>
              <a:xfrm>
                <a:off x="39341970" y="27589144"/>
                <a:ext cx="228600" cy="228600"/>
              </a:xfrm>
              <a:prstGeom prst="rect">
                <a:avLst/>
              </a:prstGeom>
              <a:solidFill>
                <a:srgbClr val="FFC6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549AD1DE-5D01-7352-E006-D73BC8B830E1}"/>
                  </a:ext>
                </a:extLst>
              </p:cNvPr>
              <p:cNvSpPr/>
              <p:nvPr/>
            </p:nvSpPr>
            <p:spPr>
              <a:xfrm>
                <a:off x="39341970" y="28061568"/>
                <a:ext cx="228600" cy="228600"/>
              </a:xfrm>
              <a:prstGeom prst="rect">
                <a:avLst/>
              </a:prstGeom>
              <a:solidFill>
                <a:srgbClr val="5D85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C9626499-7920-2242-241D-DE1CC1B8CF5A}"/>
                  </a:ext>
                </a:extLst>
              </p:cNvPr>
              <p:cNvSpPr/>
              <p:nvPr/>
            </p:nvSpPr>
            <p:spPr>
              <a:xfrm>
                <a:off x="39341970" y="28513860"/>
                <a:ext cx="228600" cy="228600"/>
              </a:xfrm>
              <a:prstGeom prst="rect">
                <a:avLst/>
              </a:prstGeom>
              <a:solidFill>
                <a:srgbClr val="4777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4C786D8-8750-5AF8-1828-C03F716753A5}"/>
                  </a:ext>
                </a:extLst>
              </p:cNvPr>
              <p:cNvSpPr/>
              <p:nvPr/>
            </p:nvSpPr>
            <p:spPr>
              <a:xfrm>
                <a:off x="39341970" y="28987230"/>
                <a:ext cx="228600" cy="228600"/>
              </a:xfrm>
              <a:prstGeom prst="rect">
                <a:avLst/>
              </a:prstGeom>
              <a:solidFill>
                <a:srgbClr val="F092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901E3DB8-01F1-9376-A361-C25449F48528}"/>
                  </a:ext>
                </a:extLst>
              </p:cNvPr>
              <p:cNvSpPr/>
              <p:nvPr/>
            </p:nvSpPr>
            <p:spPr>
              <a:xfrm>
                <a:off x="39341970" y="29439522"/>
                <a:ext cx="228600" cy="228600"/>
              </a:xfrm>
              <a:prstGeom prst="rect">
                <a:avLst/>
              </a:prstGeom>
              <a:solidFill>
                <a:srgbClr val="AD65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1" name="Rectangle 70">
              <a:extLst>
                <a:ext uri="{FF2B5EF4-FFF2-40B4-BE49-F238E27FC236}">
                  <a16:creationId xmlns:a16="http://schemas.microsoft.com/office/drawing/2014/main" id="{64669AB1-5B84-61A6-E862-1F44F8B3F1BC}"/>
                </a:ext>
              </a:extLst>
            </p:cNvPr>
            <p:cNvSpPr/>
            <p:nvPr/>
          </p:nvSpPr>
          <p:spPr>
            <a:xfrm>
              <a:off x="39344385" y="25693897"/>
              <a:ext cx="228600" cy="228600"/>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26" name="Picture 2" descr="odu-sig-noidea-fullcolor">
            <a:extLst>
              <a:ext uri="{FF2B5EF4-FFF2-40B4-BE49-F238E27FC236}">
                <a16:creationId xmlns:a16="http://schemas.microsoft.com/office/drawing/2014/main" id="{696554AB-0514-AC40-A1AB-3D7B5D05B63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57619" y="1615082"/>
            <a:ext cx="5709913" cy="238778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SF Logo T - NIMET: Nanoscience Institute for Medical ...">
            <a:extLst>
              <a:ext uri="{FF2B5EF4-FFF2-40B4-BE49-F238E27FC236}">
                <a16:creationId xmlns:a16="http://schemas.microsoft.com/office/drawing/2014/main" id="{D5FBE3FA-3EB6-67E1-AE00-392B1D1E649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243250" y="1133628"/>
            <a:ext cx="3509969" cy="3528314"/>
          </a:xfrm>
          <a:prstGeom prst="rect">
            <a:avLst/>
          </a:prstGeom>
          <a:noFill/>
          <a:extLst>
            <a:ext uri="{909E8E84-426E-40DD-AFC4-6F175D3DCCD1}">
              <a14:hiddenFill xmlns:a14="http://schemas.microsoft.com/office/drawing/2010/main">
                <a:solidFill>
                  <a:srgbClr val="FFFFFF"/>
                </a:solidFill>
              </a14:hiddenFill>
            </a:ext>
          </a:extLst>
        </p:spPr>
      </p:pic>
      <p:sp>
        <p:nvSpPr>
          <p:cNvPr id="81" name="Rounded Rectangle 39">
            <a:extLst>
              <a:ext uri="{FF2B5EF4-FFF2-40B4-BE49-F238E27FC236}">
                <a16:creationId xmlns:a16="http://schemas.microsoft.com/office/drawing/2014/main" id="{1113394F-DF81-85DF-396E-5A29DA7EB5AE}"/>
              </a:ext>
            </a:extLst>
          </p:cNvPr>
          <p:cNvSpPr/>
          <p:nvPr/>
        </p:nvSpPr>
        <p:spPr>
          <a:xfrm>
            <a:off x="14125138" y="5344608"/>
            <a:ext cx="15960416"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ounded Rectangle 39">
            <a:extLst>
              <a:ext uri="{FF2B5EF4-FFF2-40B4-BE49-F238E27FC236}">
                <a16:creationId xmlns:a16="http://schemas.microsoft.com/office/drawing/2014/main" id="{47268F42-848E-D508-B511-C6D8AB2D68F0}"/>
              </a:ext>
            </a:extLst>
          </p:cNvPr>
          <p:cNvSpPr/>
          <p:nvPr/>
        </p:nvSpPr>
        <p:spPr>
          <a:xfrm>
            <a:off x="849138" y="5344608"/>
            <a:ext cx="12991657"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ounded Rectangle 39">
            <a:extLst>
              <a:ext uri="{FF2B5EF4-FFF2-40B4-BE49-F238E27FC236}">
                <a16:creationId xmlns:a16="http://schemas.microsoft.com/office/drawing/2014/main" id="{825AC4C3-C30F-4883-84B2-509A61814071}"/>
              </a:ext>
            </a:extLst>
          </p:cNvPr>
          <p:cNvSpPr/>
          <p:nvPr/>
        </p:nvSpPr>
        <p:spPr>
          <a:xfrm>
            <a:off x="30284326" y="5292780"/>
            <a:ext cx="13062745"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 Placeholder 1">
            <a:extLst>
              <a:ext uri="{FF2B5EF4-FFF2-40B4-BE49-F238E27FC236}">
                <a16:creationId xmlns:a16="http://schemas.microsoft.com/office/drawing/2014/main" id="{153BAA7D-917C-E92E-F520-3A9BFCB207D8}"/>
              </a:ext>
            </a:extLst>
          </p:cNvPr>
          <p:cNvSpPr txBox="1">
            <a:spLocks/>
          </p:cNvSpPr>
          <p:nvPr/>
        </p:nvSpPr>
        <p:spPr>
          <a:xfrm>
            <a:off x="849138" y="22248842"/>
            <a:ext cx="12415198" cy="2677634"/>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342900" indent="-342900">
              <a:buFont typeface="Arial" pitchFamily="34" charset="0"/>
              <a:buChar char="•"/>
            </a:pPr>
            <a:r>
              <a:rPr lang="en-US" sz="3600" dirty="0">
                <a:solidFill>
                  <a:schemeClr val="tx1"/>
                </a:solidFill>
              </a:rPr>
              <a:t>School of Cybersecurity supports ODU's mission to serve its students and enrich the Commonwealth of Virginia, the nation, and the world through rigorous academic programs, strategic partnerships, and active civic engagement.</a:t>
            </a:r>
          </a:p>
        </p:txBody>
      </p:sp>
    </p:spTree>
    <p:extLst>
      <p:ext uri="{BB962C8B-B14F-4D97-AF65-F5344CB8AC3E}">
        <p14:creationId xmlns:p14="http://schemas.microsoft.com/office/powerpoint/2010/main" val="1815310718"/>
      </p:ext>
    </p:extLst>
  </p:cSld>
  <p:clrMapOvr>
    <a:masterClrMapping/>
  </p:clrMapOvr>
</p:sld>
</file>

<file path=ppt/theme/theme1.xml><?xml version="1.0" encoding="utf-8"?>
<a:theme xmlns:a="http://schemas.openxmlformats.org/drawingml/2006/main" name="36x48-Template-V2b">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1_Classic 3 Column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10789</TotalTime>
  <Words>551</Words>
  <Application>Microsoft Macintosh PowerPoint</Application>
  <PresentationFormat>Custom</PresentationFormat>
  <Paragraphs>51</Paragraphs>
  <Slides>1</Slides>
  <Notes>1</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9" baseType="lpstr">
      <vt:lpstr>Arial</vt:lpstr>
      <vt:lpstr>Calibri</vt:lpstr>
      <vt:lpstr>Times New Roman</vt:lpstr>
      <vt:lpstr>Trebuchet MS</vt:lpstr>
      <vt:lpstr>36x48-Template-V2b</vt:lpstr>
      <vt:lpstr>1_Classic 3 Columns</vt:lpstr>
      <vt:lpstr>Classic - Wide Center</vt:lpstr>
      <vt:lpstr>Image</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Jiang, Peng</cp:lastModifiedBy>
  <cp:revision>363</cp:revision>
  <dcterms:created xsi:type="dcterms:W3CDTF">2012-02-03T19:11:35Z</dcterms:created>
  <dcterms:modified xsi:type="dcterms:W3CDTF">2024-08-01T17:25:57Z</dcterms:modified>
</cp:coreProperties>
</file>